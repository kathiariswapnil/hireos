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-cover.pn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778020" cy="6858000"/>
          </a:xfrm>
          <a:prstGeom prst="rect">
            <a:avLst/>
          </a:prstGeom>
          <a:gradFill rotWithShape="1">
            <a:gsLst>
              <a:gs pos="0">
                <a:srgbClr val="070A14">
                  <a:alpha val="97000"/>
                </a:srgbClr>
              </a:gs>
              <a:gs pos="100000">
                <a:srgbClr val="070A14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6928"/>
            <a:ext cx="475488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99032" y="643006"/>
            <a:ext cx="2926080" cy="34235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392" b="1" i="0" spc="-40">
                <a:solidFill>
                  <a:srgbClr val="FFFFFF"/>
                </a:solidFill>
                <a:latin typeface="Helvetica Neue"/>
              </a:rPr>
              <a:t>HireOS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9572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 spc="160">
                <a:solidFill>
                  <a:srgbClr val="22D3EE"/>
                </a:solidFill>
                <a:latin typeface="Helvetica Neue"/>
              </a:rPr>
              <a:t>PRE-SEED - ENTERPRISE AI X HR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79776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0" b="1" i="0" spc="-160">
                <a:solidFill>
                  <a:srgbClr val="FFFFFF"/>
                </a:solidFill>
                <a:latin typeface="Helvetica Neue"/>
              </a:rPr>
              <a:t>HireOS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49040"/>
            <a:ext cx="67665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 i="0">
                <a:solidFill>
                  <a:srgbClr val="A9B4D0"/>
                </a:solidFill>
                <a:latin typeface="Helvetica Neue"/>
              </a:rPr>
              <a:t>The Enterprise Agentic Hiring Operating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352544"/>
            <a:ext cx="2377440" cy="41148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4F6B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608576"/>
            <a:ext cx="67665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22D3EE"/>
                </a:solidFill>
                <a:latin typeface="Helvetica Neue"/>
              </a:rPr>
              <a:t>AI executes. Company policy governs. Humans decide.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264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6E7C9E"/>
                </a:solidFill>
                <a:latin typeface="Helvetica Neue"/>
              </a:rPr>
              <a:t>[Entity name TBD]  -  [email / phone TBD]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777240" y="598932"/>
            <a:ext cx="105156" cy="105156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 spc="140">
                <a:solidFill>
                  <a:srgbClr val="22D3EE"/>
                </a:solidFill>
                <a:latin typeface="Helvetica Neue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9148004" cy="1004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Enterprise hiring is coordination work, not decision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28952"/>
            <a:ext cx="8509772" cy="583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A9B4D0"/>
                </a:solidFill>
                <a:latin typeface="Helvetica Neue"/>
              </a:rPr>
              <a:t>Recruiters and hiring managers spend their week moving information between systems that do not talk to each other. The judgment takes minutes; the logistics take weeks.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31592"/>
            <a:ext cx="2480995" cy="3017520"/>
          </a:xfrm>
          <a:prstGeom prst="roundRect">
            <a:avLst>
              <a:gd name="adj" fmla="val 55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77240" y="2831592"/>
            <a:ext cx="32004" cy="3017520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14984" y="3032760"/>
            <a:ext cx="2005507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4F6BFF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3288792"/>
            <a:ext cx="2005507" cy="2499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Fragmented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3621024"/>
            <a:ext cx="2005507" cy="2045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A9B4D0"/>
                </a:solidFill>
                <a:latin typeface="Helvetica Neue"/>
              </a:rPr>
              <a:t>Hiring runs across ATS, HRMS, job portals, email, calendars, Slack/Teams, spreadsheets and finance approvals. No system owns the workflow end to 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5979" y="2831592"/>
            <a:ext cx="2480995" cy="3017520"/>
          </a:xfrm>
          <a:prstGeom prst="roundRect">
            <a:avLst>
              <a:gd name="adj" fmla="val 55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495979" y="2831592"/>
            <a:ext cx="32004" cy="30175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33723" y="3032760"/>
            <a:ext cx="2005507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22D3EE"/>
                </a:solidFill>
                <a:latin typeface="Helvetica Neu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3723" y="3288792"/>
            <a:ext cx="2005507" cy="4632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Repetitive coordination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3723" y="3834384"/>
            <a:ext cx="2005507" cy="18318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A9B4D0"/>
                </a:solidFill>
                <a:latin typeface="Helvetica Neue"/>
              </a:rPr>
              <a:t>Drafting JDs, screening applicants, arranging interviews, chasing reminders, collecting feedback and preparing offers absorb the majority of recruiting hours.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4718" y="2831592"/>
            <a:ext cx="2480995" cy="3017520"/>
          </a:xfrm>
          <a:prstGeom prst="roundRect">
            <a:avLst>
              <a:gd name="adj" fmla="val 55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14718" y="2831592"/>
            <a:ext cx="32004" cy="30175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52462" y="3032760"/>
            <a:ext cx="2005507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F59E0B"/>
                </a:solidFill>
                <a:latin typeface="Helvetica Neu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2462" y="3288792"/>
            <a:ext cx="2005507" cy="4632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Generic AI does not know your company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2462" y="3834384"/>
            <a:ext cx="2005507" cy="18318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A9B4D0"/>
                </a:solidFill>
                <a:latin typeface="Helvetica Neue"/>
              </a:rPr>
              <a:t>Off-the-shelf AI has no view of your approval hierarchy, salary bands, role levels, interview standards or hiring history.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3457" y="2831592"/>
            <a:ext cx="2480995" cy="3017520"/>
          </a:xfrm>
          <a:prstGeom prst="roundRect">
            <a:avLst>
              <a:gd name="adj" fmla="val 55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933457" y="2831592"/>
            <a:ext cx="32004" cy="30175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71201" y="3032760"/>
            <a:ext cx="2005507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34D399"/>
                </a:solidFill>
                <a:latin typeface="Helvetica Neue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201" y="3288792"/>
            <a:ext cx="2005507" cy="4632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Black-box AI is unadoptable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201" y="3834384"/>
            <a:ext cx="2005507" cy="18318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A9B4D0"/>
                </a:solidFill>
                <a:latin typeface="Helvetica Neue"/>
              </a:rPr>
              <a:t>An AI that simply outputs hire or reject creates accountability and compliance risk no enterprise will absorb.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20" y="6382512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Validation PDF sec.2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02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777240" y="598932"/>
            <a:ext cx="105156" cy="105156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 spc="140">
                <a:solidFill>
                  <a:srgbClr val="22D3EE"/>
                </a:solidFill>
                <a:latin typeface="Helvetica Neue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9148004" cy="1004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The capability arrived. The control layer did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28952"/>
            <a:ext cx="8509772" cy="319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A9B4D0"/>
                </a:solidFill>
                <a:latin typeface="Helvetica Neue"/>
              </a:rPr>
              <a:t>Three things became true at once, and the gap between them is the opening.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67432"/>
            <a:ext cx="3387242" cy="2973832"/>
          </a:xfrm>
          <a:prstGeom prst="roundRect">
            <a:avLst>
              <a:gd name="adj" fmla="val 55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77240" y="2567432"/>
            <a:ext cx="32004" cy="2973832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14984" y="2768600"/>
            <a:ext cx="291175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4F6BFF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3024632"/>
            <a:ext cx="2911754" cy="2499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Models can finally do the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3356864"/>
            <a:ext cx="2911754" cy="200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A9B4D0"/>
                </a:solidFill>
                <a:latin typeface="Helvetica Neue"/>
              </a:rPr>
              <a:t>Language models are now good enough to draft JDs, extract resume evidence and summarize interviews at a quality enterprises will actually put in front of a hiring manager.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2226" y="2567432"/>
            <a:ext cx="3387242" cy="2973832"/>
          </a:xfrm>
          <a:prstGeom prst="roundRect">
            <a:avLst>
              <a:gd name="adj" fmla="val 55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402226" y="2567432"/>
            <a:ext cx="32004" cy="29738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39970" y="2768600"/>
            <a:ext cx="291175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22D3EE"/>
                </a:solidFill>
                <a:latin typeface="Helvetica Neu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9970" y="3024632"/>
            <a:ext cx="2911754" cy="4632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Enterprises are funding agentic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9970" y="3570224"/>
            <a:ext cx="2911754" cy="1788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A9B4D0"/>
                </a:solidFill>
                <a:latin typeface="Helvetica Neue"/>
              </a:rPr>
              <a:t>Budget has moved from AI experiments to AI that executes real operational work, with procurement now asking about governance rather than novelty.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7212" y="2567432"/>
            <a:ext cx="3387242" cy="2973832"/>
          </a:xfrm>
          <a:prstGeom prst="roundRect">
            <a:avLst>
              <a:gd name="adj" fmla="val 55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27212" y="2567432"/>
            <a:ext cx="32004" cy="2973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64956" y="2768600"/>
            <a:ext cx="291175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F59E0B"/>
                </a:solidFill>
                <a:latin typeface="Helvetica Neu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4956" y="3024632"/>
            <a:ext cx="2911754" cy="4632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But 'AI recruiting' is already table stakes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4956" y="3570224"/>
            <a:ext cx="2911754" cy="1788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A9B4D0"/>
                </a:solidFill>
                <a:latin typeface="Helvetica Neue"/>
              </a:rPr>
              <a:t>ATS, talent-intelligence and AI-interview vendors all ship AI features. Demand is validated and differentiation on AI alone is gone. What is missing is policy-aware orchestration.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760720"/>
            <a:ext cx="41148" cy="2661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51560" y="5760720"/>
            <a:ext cx="7955280" cy="266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The market validates the demand. It does not yet serve the control problem.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20" y="6382512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Blueprint sec.15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03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777240" y="598932"/>
            <a:ext cx="105156" cy="105156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 spc="140">
                <a:solidFill>
                  <a:srgbClr val="22D3EE"/>
                </a:solidFill>
                <a:latin typeface="Helvetica Neue"/>
              </a:rPr>
              <a:t>OUR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9148004" cy="529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Separate the model from the mandate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3972"/>
            <a:ext cx="8509772" cy="583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A9B4D0"/>
                </a:solidFill>
                <a:latin typeface="Helvetica Neue"/>
              </a:rPr>
              <a:t>Every credible enterprise hiring agent needs two brains. Most products build only the first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56612"/>
            <a:ext cx="5181447" cy="2286000"/>
          </a:xfrm>
          <a:prstGeom prst="roundRect">
            <a:avLst>
              <a:gd name="adj" fmla="val 55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77240" y="2356612"/>
            <a:ext cx="5181447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33272" y="2612644"/>
            <a:ext cx="466938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</a:rPr>
              <a:t>AI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923540"/>
            <a:ext cx="4669383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22D3EE"/>
                </a:solidFill>
                <a:latin typeface="Helvetica Neue"/>
              </a:rPr>
              <a:t>LANGUAGE-HEAVY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216148"/>
            <a:ext cx="4669383" cy="1261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173736" indent="-173736">
              <a:lnSpc>
                <a:spcPct val="116000"/>
              </a:lnSpc>
              <a:spcAft>
                <a:spcPts val="25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1150">
                <a:solidFill>
                  <a:srgbClr val="A9B4D0"/>
                </a:solidFill>
                <a:latin typeface="Helvetica Neue"/>
              </a:rPr>
              <a:t>Understand the hiring request</a:t>
            </a:r>
          </a:p>
          <a:p>
            <a:pPr marL="173736" indent="-173736">
              <a:lnSpc>
                <a:spcPct val="116000"/>
              </a:lnSpc>
              <a:spcAft>
                <a:spcPts val="25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1150">
                <a:solidFill>
                  <a:srgbClr val="A9B4D0"/>
                </a:solidFill>
                <a:latin typeface="Helvetica Neue"/>
              </a:rPr>
              <a:t>Generate and revise JDs</a:t>
            </a:r>
          </a:p>
          <a:p>
            <a:pPr marL="173736" indent="-173736">
              <a:lnSpc>
                <a:spcPct val="116000"/>
              </a:lnSpc>
              <a:spcAft>
                <a:spcPts val="25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1150">
                <a:solidFill>
                  <a:srgbClr val="A9B4D0"/>
                </a:solidFill>
                <a:latin typeface="Helvetica Neue"/>
              </a:rPr>
              <a:t>Summarize resumes and interviews</a:t>
            </a:r>
          </a:p>
          <a:p>
            <a:pPr marL="173736" indent="-173736">
              <a:lnSpc>
                <a:spcPct val="116000"/>
              </a:lnSpc>
              <a:spcAft>
                <a:spcPts val="25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1150">
                <a:solidFill>
                  <a:srgbClr val="A9B4D0"/>
                </a:solidFill>
                <a:latin typeface="Helvetica Neue"/>
              </a:rPr>
              <a:t>Extract competency evidence</a:t>
            </a:r>
          </a:p>
          <a:p>
            <a:pPr marL="173736" indent="-173736">
              <a:lnSpc>
                <a:spcPct val="116000"/>
              </a:lnSpc>
              <a:spcAft>
                <a:spcPts val="25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1150">
                <a:solidFill>
                  <a:srgbClr val="A9B4D0"/>
                </a:solidFill>
                <a:latin typeface="Helvetica Neue"/>
              </a:rPr>
              <a:t>Generate interview questions</a:t>
            </a:r>
          </a:p>
          <a:p>
            <a:pPr marL="173736" indent="-173736">
              <a:lnSpc>
                <a:spcPct val="116000"/>
              </a:lnSpc>
              <a:spcAft>
                <a:spcPts val="25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1150">
                <a:solidFill>
                  <a:srgbClr val="A9B4D0"/>
                </a:solidFill>
                <a:latin typeface="Helvetica Neue"/>
              </a:rPr>
              <a:t>Draft candidate communication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356612"/>
            <a:ext cx="5181447" cy="2286000"/>
          </a:xfrm>
          <a:prstGeom prst="roundRect">
            <a:avLst>
              <a:gd name="adj" fmla="val 55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3007" y="2356612"/>
            <a:ext cx="5181447" cy="41148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89039" y="2612644"/>
            <a:ext cx="466938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</a:rPr>
              <a:t>Deterministic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923540"/>
            <a:ext cx="4669383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4F6BFF"/>
                </a:solidFill>
                <a:latin typeface="Helvetica Neue"/>
              </a:rPr>
              <a:t>RULES, STATES AND AUTHORITY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9039" y="3216148"/>
            <a:ext cx="4669383" cy="1261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173736" indent="-173736">
              <a:lnSpc>
                <a:spcPct val="116000"/>
              </a:lnSpc>
              <a:spcAft>
                <a:spcPts val="25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1150">
                <a:solidFill>
                  <a:srgbClr val="A9B4D0"/>
                </a:solidFill>
                <a:latin typeface="Helvetica Neue"/>
              </a:rPr>
              <a:t>Salary bands and limits</a:t>
            </a:r>
          </a:p>
          <a:p>
            <a:pPr marL="173736" indent="-173736">
              <a:lnSpc>
                <a:spcPct val="116000"/>
              </a:lnSpc>
              <a:spcAft>
                <a:spcPts val="25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1150">
                <a:solidFill>
                  <a:srgbClr val="A9B4D0"/>
                </a:solidFill>
                <a:latin typeface="Helvetica Neue"/>
              </a:rPr>
              <a:t>Approval hierarchy</a:t>
            </a:r>
          </a:p>
          <a:p>
            <a:pPr marL="173736" indent="-173736">
              <a:lnSpc>
                <a:spcPct val="116000"/>
              </a:lnSpc>
              <a:spcAft>
                <a:spcPts val="25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1150">
                <a:solidFill>
                  <a:srgbClr val="A9B4D0"/>
                </a:solidFill>
                <a:latin typeface="Helvetica Neue"/>
              </a:rPr>
              <a:t>Permissions and RBAC</a:t>
            </a:r>
          </a:p>
          <a:p>
            <a:pPr marL="173736" indent="-173736">
              <a:lnSpc>
                <a:spcPct val="116000"/>
              </a:lnSpc>
              <a:spcAft>
                <a:spcPts val="25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1150">
                <a:solidFill>
                  <a:srgbClr val="A9B4D0"/>
                </a:solidFill>
                <a:latin typeface="Helvetica Neue"/>
              </a:rPr>
              <a:t>Workflow state transitions</a:t>
            </a:r>
          </a:p>
          <a:p>
            <a:pPr marL="173736" indent="-173736">
              <a:lnSpc>
                <a:spcPct val="116000"/>
              </a:lnSpc>
              <a:spcAft>
                <a:spcPts val="25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1150">
                <a:solidFill>
                  <a:srgbClr val="A9B4D0"/>
                </a:solidFill>
                <a:latin typeface="Helvetica Neue"/>
              </a:rPr>
              <a:t>Required interview rounds</a:t>
            </a:r>
          </a:p>
          <a:p>
            <a:pPr marL="173736" indent="-173736">
              <a:lnSpc>
                <a:spcPct val="116000"/>
              </a:lnSpc>
              <a:spcAft>
                <a:spcPts val="25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1150">
                <a:solidFill>
                  <a:srgbClr val="A9B4D0"/>
                </a:solidFill>
                <a:latin typeface="Helvetica Neue"/>
              </a:rPr>
              <a:t>Audit logs and traceability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67963" y="4679188"/>
            <a:ext cx="0" cy="164592"/>
          </a:xfrm>
          <a:prstGeom prst="line">
            <a:avLst/>
          </a:prstGeom>
          <a:ln w="15875">
            <a:solidFill>
              <a:srgbClr val="222C4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823730" y="4679188"/>
            <a:ext cx="0" cy="164592"/>
          </a:xfrm>
          <a:prstGeom prst="line">
            <a:avLst/>
          </a:prstGeom>
          <a:ln w="15875">
            <a:solidFill>
              <a:srgbClr val="222C4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" y="4825492"/>
            <a:ext cx="10637215" cy="676656"/>
          </a:xfrm>
          <a:prstGeom prst="roundRect">
            <a:avLst>
              <a:gd name="adj" fmla="val 10000"/>
            </a:avLst>
          </a:prstGeom>
          <a:solidFill>
            <a:srgbClr val="19234B"/>
          </a:solidFill>
          <a:ln w="12700">
            <a:solidFill>
              <a:srgbClr val="4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iamond 18"/>
          <p:cNvSpPr/>
          <p:nvPr/>
        </p:nvSpPr>
        <p:spPr>
          <a:xfrm>
            <a:off x="1042416" y="5026660"/>
            <a:ext cx="274320" cy="274320"/>
          </a:xfrm>
          <a:prstGeom prst="diamond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35608" y="4825492"/>
            <a:ext cx="1874519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 spc="130">
                <a:solidFill>
                  <a:srgbClr val="FFFFFF"/>
                </a:solidFill>
                <a:latin typeface="Helvetica Neue"/>
              </a:rPr>
              <a:t>POLICY ENGINE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0127" y="4971796"/>
            <a:ext cx="9525" cy="384048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529583" y="4825492"/>
            <a:ext cx="7647128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An LLM may recommend an action. The policy and workflow engine decides whether that action is allowed.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666740"/>
            <a:ext cx="10637215" cy="728980"/>
          </a:xfrm>
          <a:prstGeom prst="roundRect">
            <a:avLst>
              <a:gd name="adj" fmla="val 10000"/>
            </a:avLst>
          </a:prstGeom>
          <a:solidFill>
            <a:srgbClr val="252121"/>
          </a:solidFill>
          <a:ln w="12700">
            <a:solidFill>
              <a:srgbClr val="6B5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77240" y="5666740"/>
            <a:ext cx="41148" cy="7289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14984" y="5849620"/>
            <a:ext cx="10216591" cy="3632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F59E0B"/>
                </a:solidFill>
                <a:latin typeface="Helvetica Neue"/>
              </a:rPr>
              <a:t>In practice  </a:t>
            </a:r>
            <a:r>
              <a:rPr sz="1100">
                <a:solidFill>
                  <a:srgbClr val="A9B4D0"/>
                </a:solidFill>
                <a:latin typeface="Helvetica Neue"/>
              </a:rPr>
              <a:t>A candidate expects INR 28 LPA against an approved L3 band of INR 18-25 LPA. The model does not get to call that acceptable. The policy engine flags the exception and routes it to the approver who owns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20" y="6382512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Blueprint sec.5, Validation PDF sec.6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04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ction-orchestration.pn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90352" cy="6858000"/>
          </a:xfrm>
          <a:prstGeom prst="rect">
            <a:avLst/>
          </a:prstGeom>
          <a:gradFill rotWithShape="1">
            <a:gsLst>
              <a:gs pos="0">
                <a:srgbClr val="070A14">
                  <a:alpha val="95000"/>
                </a:srgbClr>
              </a:gs>
              <a:gs pos="100000">
                <a:srgbClr val="070A14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67712"/>
            <a:ext cx="1828800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600" b="1" i="0">
                <a:solidFill>
                  <a:srgbClr val="2E3F95"/>
                </a:solidFill>
                <a:latin typeface="Helvetica Neue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236976"/>
            <a:ext cx="1554480" cy="41148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4F6B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93008"/>
            <a:ext cx="64008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4000" b="1" i="0" spc="-100">
                <a:solidFill>
                  <a:srgbClr val="FFFFFF"/>
                </a:solidFill>
                <a:latin typeface="Helvetica Neue"/>
              </a:rPr>
              <a:t>The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51376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A9B4D0"/>
                </a:solidFill>
                <a:latin typeface="Helvetica Neue"/>
              </a:rPr>
              <a:t>One request. One orchestrated, governed workflow.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05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777240" y="598932"/>
            <a:ext cx="105156" cy="105156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 spc="140">
                <a:solidFill>
                  <a:srgbClr val="22D3EE"/>
                </a:solidFill>
                <a:latin typeface="Helvetica Neue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9148004" cy="1004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An orchestration layer on top of the HR stack you already bought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28952"/>
            <a:ext cx="8509772" cy="583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A9B4D0"/>
                </a:solidFill>
                <a:latin typeface="Helvetica Neue"/>
              </a:rPr>
              <a:t>We do not ask an enterprise to rip out Workday, SAP or Greenhouse. HireOS sits above the systems of record and does the human work around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31592"/>
            <a:ext cx="10637215" cy="1408176"/>
          </a:xfrm>
          <a:prstGeom prst="roundRect">
            <a:avLst>
              <a:gd name="adj" fmla="val 5000"/>
            </a:avLst>
          </a:prstGeom>
          <a:solidFill>
            <a:srgbClr val="161F40"/>
          </a:solidFill>
          <a:ln w="12700">
            <a:solidFill>
              <a:srgbClr val="4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77240" y="2831592"/>
            <a:ext cx="10637215" cy="50292"/>
          </a:xfrm>
          <a:prstGeom prst="rect">
            <a:avLst/>
          </a:prstGeom>
          <a:gradFill rotWithShape="1">
            <a:gsLst>
              <a:gs pos="0">
                <a:srgbClr val="4F6BFF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069336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45336" y="3078480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00" b="1" i="0" spc="-40">
                <a:solidFill>
                  <a:srgbClr val="FFFFFF"/>
                </a:solidFill>
                <a:latin typeface="Helvetica Neue"/>
              </a:rPr>
              <a:t>HireOS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5336" y="339852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22D3EE"/>
                </a:solidFill>
                <a:latin typeface="Helvetica Neue"/>
              </a:rPr>
              <a:t>ORCHESTRATION &amp; GOVERNANCE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087624"/>
            <a:ext cx="1550593" cy="365760"/>
          </a:xfrm>
          <a:prstGeom prst="roundRect">
            <a:avLst>
              <a:gd name="adj" fmla="val 16000"/>
            </a:avLst>
          </a:prstGeom>
          <a:solidFill>
            <a:srgbClr val="151E33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727448" y="3087624"/>
            <a:ext cx="1422577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Requisition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5473" y="3087624"/>
            <a:ext cx="1550593" cy="365760"/>
          </a:xfrm>
          <a:prstGeom prst="roundRect">
            <a:avLst>
              <a:gd name="adj" fmla="val 16000"/>
            </a:avLst>
          </a:prstGeom>
          <a:solidFill>
            <a:srgbClr val="151E33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69481" y="3087624"/>
            <a:ext cx="1422577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Company Knowledge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47506" y="3087624"/>
            <a:ext cx="1550593" cy="365760"/>
          </a:xfrm>
          <a:prstGeom prst="roundRect">
            <a:avLst>
              <a:gd name="adj" fmla="val 16000"/>
            </a:avLst>
          </a:prstGeom>
          <a:solidFill>
            <a:srgbClr val="151E33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11514" y="3087624"/>
            <a:ext cx="1422577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JD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89539" y="3087624"/>
            <a:ext cx="1550593" cy="365760"/>
          </a:xfrm>
          <a:prstGeom prst="roundRect">
            <a:avLst>
              <a:gd name="adj" fmla="val 16000"/>
            </a:avLst>
          </a:prstGeom>
          <a:solidFill>
            <a:srgbClr val="151E33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653547" y="3087624"/>
            <a:ext cx="1422577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Policy Engine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3553968"/>
            <a:ext cx="1550593" cy="365760"/>
          </a:xfrm>
          <a:prstGeom prst="roundRect">
            <a:avLst>
              <a:gd name="adj" fmla="val 16000"/>
            </a:avLst>
          </a:prstGeom>
          <a:solidFill>
            <a:srgbClr val="151E33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727448" y="3553968"/>
            <a:ext cx="1422577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Approval Center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5473" y="3553968"/>
            <a:ext cx="1550593" cy="365760"/>
          </a:xfrm>
          <a:prstGeom prst="roundRect">
            <a:avLst>
              <a:gd name="adj" fmla="val 16000"/>
            </a:avLst>
          </a:prstGeom>
          <a:solidFill>
            <a:srgbClr val="151E33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69481" y="3553968"/>
            <a:ext cx="1422577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Job Distribution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47506" y="3553968"/>
            <a:ext cx="1550593" cy="365760"/>
          </a:xfrm>
          <a:prstGeom prst="roundRect">
            <a:avLst>
              <a:gd name="adj" fmla="val 16000"/>
            </a:avLst>
          </a:prstGeom>
          <a:solidFill>
            <a:srgbClr val="151E33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011514" y="3553968"/>
            <a:ext cx="1422577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Candidate Intelligence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89539" y="3553968"/>
            <a:ext cx="1550593" cy="365760"/>
          </a:xfrm>
          <a:prstGeom prst="roundRect">
            <a:avLst>
              <a:gd name="adj" fmla="val 16000"/>
            </a:avLst>
          </a:prstGeom>
          <a:solidFill>
            <a:srgbClr val="151E33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53547" y="3553968"/>
            <a:ext cx="1422577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Governance &amp; Audit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80" y="4294632"/>
            <a:ext cx="0" cy="219456"/>
          </a:xfrm>
          <a:prstGeom prst="line">
            <a:avLst/>
          </a:prstGeom>
          <a:ln w="12700">
            <a:solidFill>
              <a:srgbClr val="1A23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874520" y="4294632"/>
            <a:ext cx="0" cy="219456"/>
          </a:xfrm>
          <a:prstGeom prst="line">
            <a:avLst/>
          </a:prstGeom>
          <a:ln w="12700">
            <a:solidFill>
              <a:srgbClr val="1A23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520440" y="4294632"/>
            <a:ext cx="0" cy="219456"/>
          </a:xfrm>
          <a:prstGeom prst="line">
            <a:avLst/>
          </a:prstGeom>
          <a:ln w="12700">
            <a:solidFill>
              <a:srgbClr val="1A23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611880" y="4294632"/>
            <a:ext cx="0" cy="219456"/>
          </a:xfrm>
          <a:prstGeom prst="line">
            <a:avLst/>
          </a:prstGeom>
          <a:ln w="12700">
            <a:solidFill>
              <a:srgbClr val="1A23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257800" y="4294632"/>
            <a:ext cx="0" cy="219456"/>
          </a:xfrm>
          <a:prstGeom prst="line">
            <a:avLst/>
          </a:prstGeom>
          <a:ln w="12700">
            <a:solidFill>
              <a:srgbClr val="1A23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349240" y="4294632"/>
            <a:ext cx="0" cy="219456"/>
          </a:xfrm>
          <a:prstGeom prst="line">
            <a:avLst/>
          </a:prstGeom>
          <a:ln w="12700">
            <a:solidFill>
              <a:srgbClr val="1A23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995160" y="4294632"/>
            <a:ext cx="0" cy="219456"/>
          </a:xfrm>
          <a:prstGeom prst="line">
            <a:avLst/>
          </a:prstGeom>
          <a:ln w="12700">
            <a:solidFill>
              <a:srgbClr val="1A23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086600" y="4294632"/>
            <a:ext cx="0" cy="219456"/>
          </a:xfrm>
          <a:prstGeom prst="line">
            <a:avLst/>
          </a:prstGeom>
          <a:ln w="12700">
            <a:solidFill>
              <a:srgbClr val="1A23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732520" y="4294632"/>
            <a:ext cx="0" cy="219456"/>
          </a:xfrm>
          <a:prstGeom prst="line">
            <a:avLst/>
          </a:prstGeom>
          <a:ln w="12700">
            <a:solidFill>
              <a:srgbClr val="1A23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823960" y="4294632"/>
            <a:ext cx="0" cy="219456"/>
          </a:xfrm>
          <a:prstGeom prst="line">
            <a:avLst/>
          </a:prstGeom>
          <a:ln w="12700">
            <a:solidFill>
              <a:srgbClr val="1A23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469880" y="4294632"/>
            <a:ext cx="0" cy="219456"/>
          </a:xfrm>
          <a:prstGeom prst="line">
            <a:avLst/>
          </a:prstGeom>
          <a:ln w="12700">
            <a:solidFill>
              <a:srgbClr val="1A23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0561320" y="4294632"/>
            <a:ext cx="0" cy="219456"/>
          </a:xfrm>
          <a:prstGeom prst="line">
            <a:avLst/>
          </a:prstGeom>
          <a:ln w="12700">
            <a:solidFill>
              <a:srgbClr val="1A23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641080" y="4322064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6E7C9E"/>
                </a:solidFill>
                <a:latin typeface="Helvetica Neue"/>
              </a:rPr>
              <a:t>CONNECTORS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4568952"/>
            <a:ext cx="10637215" cy="859536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051560" y="471525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6E7C9E"/>
                </a:solidFill>
                <a:latin typeface="Helvetica Neue"/>
              </a:rPr>
              <a:t>YOUR EXISTING SYSTEMS OF RECORD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1560" y="5007864"/>
            <a:ext cx="1347172" cy="329184"/>
          </a:xfrm>
          <a:prstGeom prst="roundRect">
            <a:avLst>
              <a:gd name="adj" fmla="val 16000"/>
            </a:avLst>
          </a:prstGeom>
          <a:solidFill>
            <a:srgbClr val="070A1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106424" y="5007864"/>
            <a:ext cx="123744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ATS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08460" y="5007864"/>
            <a:ext cx="1347172" cy="329184"/>
          </a:xfrm>
          <a:prstGeom prst="roundRect">
            <a:avLst>
              <a:gd name="adj" fmla="val 16000"/>
            </a:avLst>
          </a:prstGeom>
          <a:solidFill>
            <a:srgbClr val="070A1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2563324" y="5007864"/>
            <a:ext cx="123744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HRMS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65360" y="5007864"/>
            <a:ext cx="1347172" cy="329184"/>
          </a:xfrm>
          <a:prstGeom prst="roundRect">
            <a:avLst>
              <a:gd name="adj" fmla="val 16000"/>
            </a:avLst>
          </a:prstGeom>
          <a:solidFill>
            <a:srgbClr val="070A1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020224" y="5007864"/>
            <a:ext cx="123744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Job boards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22260" y="5007864"/>
            <a:ext cx="1347172" cy="329184"/>
          </a:xfrm>
          <a:prstGeom prst="roundRect">
            <a:avLst>
              <a:gd name="adj" fmla="val 16000"/>
            </a:avLst>
          </a:prstGeom>
          <a:solidFill>
            <a:srgbClr val="070A1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477124" y="5007864"/>
            <a:ext cx="123744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Calendar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79160" y="5007864"/>
            <a:ext cx="1347172" cy="329184"/>
          </a:xfrm>
          <a:prstGeom prst="roundRect">
            <a:avLst>
              <a:gd name="adj" fmla="val 16000"/>
            </a:avLst>
          </a:prstGeom>
          <a:solidFill>
            <a:srgbClr val="070A1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934024" y="5007864"/>
            <a:ext cx="123744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Email / Teams / Slack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36060" y="5007864"/>
            <a:ext cx="1347172" cy="329184"/>
          </a:xfrm>
          <a:prstGeom prst="roundRect">
            <a:avLst>
              <a:gd name="adj" fmla="val 16000"/>
            </a:avLst>
          </a:prstGeom>
          <a:solidFill>
            <a:srgbClr val="070A1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390924" y="5007864"/>
            <a:ext cx="123744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Meetings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92960" y="5007864"/>
            <a:ext cx="1347172" cy="329184"/>
          </a:xfrm>
          <a:prstGeom prst="roundRect">
            <a:avLst>
              <a:gd name="adj" fmla="val 16000"/>
            </a:avLst>
          </a:prstGeom>
          <a:solidFill>
            <a:srgbClr val="070A1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9847824" y="5007864"/>
            <a:ext cx="123744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Finance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7240" y="5647944"/>
            <a:ext cx="32004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960120" y="5629656"/>
            <a:ext cx="31555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Low adoption friction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" y="5858256"/>
            <a:ext cx="315559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No migration, no rip-and-replace, no system-of-record risk.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26610" y="5647944"/>
            <a:ext cx="32004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4609490" y="5629656"/>
            <a:ext cx="31555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Vendor neutral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09490" y="5858256"/>
            <a:ext cx="315559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We integrate with whatever they run, which makes us additive rather than competitive.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75980" y="5647944"/>
            <a:ext cx="32004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8258860" y="5629656"/>
            <a:ext cx="31555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Fast time to value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58860" y="5858256"/>
            <a:ext cx="315559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Value shows up in the first workflow, not after a replatform.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74520" y="6382512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Blueprint sec.1, Validation PDF sec.16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06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777240" y="598932"/>
            <a:ext cx="105156" cy="105156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 spc="140">
                <a:solidFill>
                  <a:srgbClr val="22D3EE"/>
                </a:solidFill>
                <a:latin typeface="Helvetica Neue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9148004" cy="1004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One hiring request becomes one orchestrated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20392"/>
            <a:ext cx="10637215" cy="786384"/>
          </a:xfrm>
          <a:prstGeom prst="roundRect">
            <a:avLst>
              <a:gd name="adj" fmla="val 9000"/>
            </a:avLst>
          </a:prstGeom>
          <a:solidFill>
            <a:srgbClr val="10273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77240" y="2120392"/>
            <a:ext cx="45720" cy="7863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33272" y="223926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22D3EE"/>
                </a:solidFill>
                <a:latin typeface="Helvetica Neue"/>
              </a:rPr>
              <a:t>HIRING MANAGER TYPES THIS, IN PLAIN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467864"/>
            <a:ext cx="10125151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1" i="1">
                <a:solidFill>
                  <a:srgbClr val="FFFFFF"/>
                </a:solidFill>
                <a:latin typeface="Helvetica Neue"/>
              </a:rPr>
              <a:t>“Hire a Data Scientist, 4+ years, Python / SQL / ML / AWS, Bengaluru, approved band INR 20-26 LPA.”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126232"/>
            <a:ext cx="2032345" cy="877824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3126232"/>
            <a:ext cx="2032345" cy="32004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326339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1" i="0">
                <a:solidFill>
                  <a:srgbClr val="4F6BFF"/>
                </a:solidFill>
                <a:latin typeface="Helvetica Neue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45104"/>
            <a:ext cx="148370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Understand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3704"/>
            <a:ext cx="1758025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50" b="0" i="0">
                <a:solidFill>
                  <a:srgbClr val="A9B4D0"/>
                </a:solidFill>
                <a:latin typeface="Helvetica Neue"/>
              </a:rPr>
              <a:t>Requisition Agent structures role, level, location, experience, stack and band.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8457" y="3126232"/>
            <a:ext cx="2032345" cy="877824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928457" y="3126232"/>
            <a:ext cx="2032345" cy="32004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065617" y="326339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1" i="0">
                <a:solidFill>
                  <a:srgbClr val="4F6BFF"/>
                </a:solidFill>
                <a:latin typeface="Helvetica Neu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9937" y="3245104"/>
            <a:ext cx="148370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Retrieve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5617" y="3473704"/>
            <a:ext cx="1758025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50" b="0" i="0">
                <a:solidFill>
                  <a:srgbClr val="A9B4D0"/>
                </a:solidFill>
                <a:latin typeface="Helvetica Neue"/>
              </a:rPr>
              <a:t>Company knowledge returns approved JDs, policies, templates and role frameworks.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9674" y="3126232"/>
            <a:ext cx="2032345" cy="877824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079674" y="3126232"/>
            <a:ext cx="2032345" cy="32004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216834" y="326339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1" i="0">
                <a:solidFill>
                  <a:srgbClr val="4F6BFF"/>
                </a:solidFill>
                <a:latin typeface="Helvetica Neue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91154" y="3245104"/>
            <a:ext cx="148370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Draft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6834" y="3473704"/>
            <a:ext cx="1758025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50" b="0" i="0">
                <a:solidFill>
                  <a:srgbClr val="A9B4D0"/>
                </a:solidFill>
                <a:latin typeface="Helvetica Neue"/>
              </a:rPr>
              <a:t>JD Agent generates a company-specific JD grounded in that knowledge.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30891" y="3126232"/>
            <a:ext cx="2032345" cy="877824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230891" y="3126232"/>
            <a:ext cx="2032345" cy="32004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68051" y="326339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1" i="0">
                <a:solidFill>
                  <a:srgbClr val="4F6BFF"/>
                </a:solidFill>
                <a:latin typeface="Helvetica Neue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2371" y="3245104"/>
            <a:ext cx="148370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Validate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8051" y="3473704"/>
            <a:ext cx="1758025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50" b="0" i="0">
                <a:solidFill>
                  <a:srgbClr val="A9B4D0"/>
                </a:solidFill>
                <a:latin typeface="Helvetica Neue"/>
              </a:rPr>
              <a:t>Policy engine checks band, permissions, required process and approvals.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82108" y="3126232"/>
            <a:ext cx="2032345" cy="877824"/>
          </a:xfrm>
          <a:prstGeom prst="roundRect">
            <a:avLst>
              <a:gd name="adj" fmla="val 7000"/>
            </a:avLst>
          </a:prstGeom>
          <a:solidFill>
            <a:srgbClr val="222021"/>
          </a:solidFill>
          <a:ln w="12700">
            <a:solidFill>
              <a:srgbClr val="614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9382108" y="3126232"/>
            <a:ext cx="2032345" cy="320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519268" y="326339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1" i="0">
                <a:solidFill>
                  <a:srgbClr val="F59E0B"/>
                </a:solidFill>
                <a:latin typeface="Helvetica Neue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3588" y="3245104"/>
            <a:ext cx="148370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Approve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19268" y="3473704"/>
            <a:ext cx="1758025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50" b="0" i="0">
                <a:solidFill>
                  <a:srgbClr val="A9B4D0"/>
                </a:solidFill>
                <a:latin typeface="Helvetica Neue"/>
              </a:rPr>
              <a:t>Manager gets Approve / Comment in Teams, Slack or email.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095496"/>
            <a:ext cx="2032345" cy="877824"/>
          </a:xfrm>
          <a:prstGeom prst="roundRect">
            <a:avLst>
              <a:gd name="adj" fmla="val 7000"/>
            </a:avLst>
          </a:prstGeom>
          <a:solidFill>
            <a:srgbClr val="222021"/>
          </a:solidFill>
          <a:ln w="12700">
            <a:solidFill>
              <a:srgbClr val="614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77240" y="4095496"/>
            <a:ext cx="2032345" cy="320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4400" y="4232656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1" i="0">
                <a:solidFill>
                  <a:srgbClr val="F59E0B"/>
                </a:solidFill>
                <a:latin typeface="Helvetica Neue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4214368"/>
            <a:ext cx="148370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Revise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442968"/>
            <a:ext cx="1758025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50" b="0" i="0">
                <a:solidFill>
                  <a:srgbClr val="A9B4D0"/>
                </a:solidFill>
                <a:latin typeface="Helvetica Neue"/>
              </a:rPr>
              <a:t>A comment triggers automatic revision and a fresh approval request.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28457" y="4095496"/>
            <a:ext cx="2032345" cy="877824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928457" y="4095496"/>
            <a:ext cx="2032345" cy="32004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065617" y="4232656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1" i="0">
                <a:solidFill>
                  <a:srgbClr val="4F6BFF"/>
                </a:solidFill>
                <a:latin typeface="Helvetica Neue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9937" y="4214368"/>
            <a:ext cx="148370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Publish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65617" y="4442968"/>
            <a:ext cx="1758025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50" b="0" i="0">
                <a:solidFill>
                  <a:srgbClr val="A9B4D0"/>
                </a:solidFill>
                <a:latin typeface="Helvetica Neue"/>
              </a:rPr>
              <a:t>Approved role is distributed through the ATS or job-board connector.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9674" y="4095496"/>
            <a:ext cx="2032345" cy="877824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079674" y="4095496"/>
            <a:ext cx="2032345" cy="32004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216834" y="4232656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1" i="0">
                <a:solidFill>
                  <a:srgbClr val="4F6BFF"/>
                </a:solidFill>
                <a:latin typeface="Helvetica Neue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91154" y="4214368"/>
            <a:ext cx="148370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Evaluate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6834" y="4442968"/>
            <a:ext cx="1758025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50" b="0" i="0">
                <a:solidFill>
                  <a:srgbClr val="A9B4D0"/>
                </a:solidFill>
                <a:latin typeface="Helvetica Neue"/>
              </a:rPr>
              <a:t>Candidate Intelligence extracts evidence per approved competency.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30891" y="4095496"/>
            <a:ext cx="2032345" cy="877824"/>
          </a:xfrm>
          <a:prstGeom prst="roundRect">
            <a:avLst>
              <a:gd name="adj" fmla="val 7000"/>
            </a:avLst>
          </a:prstGeom>
          <a:solidFill>
            <a:srgbClr val="222021"/>
          </a:solidFill>
          <a:ln w="12700">
            <a:solidFill>
              <a:srgbClr val="614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7230891" y="4095496"/>
            <a:ext cx="2032345" cy="320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368051" y="4232656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1" i="0">
                <a:solidFill>
                  <a:srgbClr val="F59E0B"/>
                </a:solidFill>
                <a:latin typeface="Helvetica Neue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42371" y="4214368"/>
            <a:ext cx="148370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Shortlist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68051" y="4442968"/>
            <a:ext cx="1758025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50" b="0" i="0">
                <a:solidFill>
                  <a:srgbClr val="A9B4D0"/>
                </a:solidFill>
                <a:latin typeface="Helvetica Neue"/>
              </a:rPr>
              <a:t>Manager selects candidates from evidence, not from a score.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382108" y="4095496"/>
            <a:ext cx="2032345" cy="877824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9382108" y="4095496"/>
            <a:ext cx="2032345" cy="32004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519268" y="4232656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1" i="0">
                <a:solidFill>
                  <a:srgbClr val="4F6BFF"/>
                </a:solidFill>
                <a:latin typeface="Helvetica Neue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93588" y="4214368"/>
            <a:ext cx="148370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Schedule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19268" y="4442968"/>
            <a:ext cx="1758025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50" b="0" i="0">
                <a:solidFill>
                  <a:srgbClr val="A9B4D0"/>
                </a:solidFill>
                <a:latin typeface="Helvetica Neue"/>
              </a:rPr>
              <a:t>Scheduling Agent finds compatible candidate and interviewer slots.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7240" y="5064760"/>
            <a:ext cx="2032345" cy="877824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777240" y="5064760"/>
            <a:ext cx="2032345" cy="32004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914400" y="520192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1" i="0">
                <a:solidFill>
                  <a:srgbClr val="4F6BFF"/>
                </a:solidFill>
                <a:latin typeface="Helvetica Neue"/>
              </a:rPr>
              <a:t>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88720" y="5183632"/>
            <a:ext cx="148370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Structure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5412232"/>
            <a:ext cx="1758025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50" b="0" i="0">
                <a:solidFill>
                  <a:srgbClr val="A9B4D0"/>
                </a:solidFill>
                <a:latin typeface="Helvetica Neue"/>
              </a:rPr>
              <a:t>Interview Intelligence turns the transcript into structured feedback.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928457" y="5064760"/>
            <a:ext cx="2032345" cy="877824"/>
          </a:xfrm>
          <a:prstGeom prst="roundRect">
            <a:avLst>
              <a:gd name="adj" fmla="val 7000"/>
            </a:avLst>
          </a:prstGeom>
          <a:solidFill>
            <a:srgbClr val="222021"/>
          </a:solidFill>
          <a:ln w="12700">
            <a:solidFill>
              <a:srgbClr val="614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2928457" y="5064760"/>
            <a:ext cx="2032345" cy="320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3065617" y="520192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1" i="0">
                <a:solidFill>
                  <a:srgbClr val="F59E0B"/>
                </a:solidFill>
                <a:latin typeface="Helvetica Neue"/>
              </a:rPr>
              <a:t>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39937" y="5183632"/>
            <a:ext cx="148370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Decide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65617" y="5412232"/>
            <a:ext cx="1758025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50" b="0" i="0">
                <a:solidFill>
                  <a:srgbClr val="A9B4D0"/>
                </a:solidFill>
                <a:latin typeface="Helvetica Neue"/>
              </a:rPr>
              <a:t>Manager approves progression. Compensation is policy-checked.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79674" y="5064760"/>
            <a:ext cx="2032345" cy="877824"/>
          </a:xfrm>
          <a:prstGeom prst="roundRect">
            <a:avLst>
              <a:gd name="adj" fmla="val 7000"/>
            </a:avLst>
          </a:prstGeom>
          <a:solidFill>
            <a:srgbClr val="222021"/>
          </a:solidFill>
          <a:ln w="12700">
            <a:solidFill>
              <a:srgbClr val="614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5079674" y="5064760"/>
            <a:ext cx="2032345" cy="320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5216834" y="520192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1" i="0">
                <a:solidFill>
                  <a:srgbClr val="F59E0B"/>
                </a:solidFill>
                <a:latin typeface="Helvetica Neue"/>
              </a:rPr>
              <a:t>13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91154" y="5183632"/>
            <a:ext cx="148370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Offer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16834" y="5412232"/>
            <a:ext cx="1758025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50" b="0" i="0">
                <a:solidFill>
                  <a:srgbClr val="A9B4D0"/>
                </a:solidFill>
                <a:latin typeface="Helvetica Neue"/>
              </a:rPr>
              <a:t>Offer draft generated, routed for HR and finance approval, then sent.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77240" y="6107176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996696" y="607060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AI executes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258568" y="6107176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2478024" y="607060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Human decides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69080" y="60523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The demo that wins is this single continuous story - not a tour of disconnected AI features.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74520" y="6382512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Blueprint sec.3 and sec.24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07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777240" y="598932"/>
            <a:ext cx="105156" cy="105156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 spc="140">
                <a:solidFill>
                  <a:srgbClr val="22D3EE"/>
                </a:solidFill>
                <a:latin typeface="Helvetica Neue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9148004" cy="1004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A durable state machine, not one giant autonomous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28952"/>
            <a:ext cx="8509772" cy="583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A9B4D0"/>
                </a:solidFill>
                <a:latin typeface="Helvetica Neue"/>
              </a:rPr>
              <a:t>Every requisition is a workflow instance with versioned state, replayable events and retries. This is what makes the system auditable and what makes it survive a failed model call.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31592"/>
            <a:ext cx="1907987" cy="420624"/>
          </a:xfrm>
          <a:prstGeom prst="roundRect">
            <a:avLst>
              <a:gd name="adj" fmla="val 14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50392" y="2831592"/>
            <a:ext cx="176168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A9B4D0"/>
                </a:solidFill>
                <a:latin typeface="Helvetica Neue"/>
              </a:rPr>
              <a:t>REQUISITION_DRAFT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59547" y="2831592"/>
            <a:ext cx="1907987" cy="420624"/>
          </a:xfrm>
          <a:prstGeom prst="roundRect">
            <a:avLst>
              <a:gd name="adj" fmla="val 14000"/>
            </a:avLst>
          </a:prstGeom>
          <a:solidFill>
            <a:srgbClr val="322A20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032699" y="2831592"/>
            <a:ext cx="176168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JD_APPROVAL</a:t>
            </a:r>
          </a:p>
        </p:txBody>
      </p:sp>
      <p:sp>
        <p:nvSpPr>
          <p:cNvPr id="10" name="Diamond 9"/>
          <p:cNvSpPr/>
          <p:nvPr/>
        </p:nvSpPr>
        <p:spPr>
          <a:xfrm>
            <a:off x="4684654" y="2804160"/>
            <a:ext cx="146304" cy="146304"/>
          </a:xfrm>
          <a:prstGeom prst="diamond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141854" y="2831592"/>
            <a:ext cx="1907987" cy="420624"/>
          </a:xfrm>
          <a:prstGeom prst="roundRect">
            <a:avLst>
              <a:gd name="adj" fmla="val 14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215006" y="2831592"/>
            <a:ext cx="176168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A9B4D0"/>
                </a:solidFill>
                <a:latin typeface="Helvetica Neue"/>
              </a:rPr>
              <a:t>JOB_POSTING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24161" y="2831592"/>
            <a:ext cx="1907987" cy="420624"/>
          </a:xfrm>
          <a:prstGeom prst="roundRect">
            <a:avLst>
              <a:gd name="adj" fmla="val 14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97313" y="2831592"/>
            <a:ext cx="176168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A9B4D0"/>
                </a:solidFill>
                <a:latin typeface="Helvetica Neue"/>
              </a:rPr>
              <a:t>ACTIVE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6468" y="2831592"/>
            <a:ext cx="1907987" cy="420624"/>
          </a:xfrm>
          <a:prstGeom prst="roundRect">
            <a:avLst>
              <a:gd name="adj" fmla="val 14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579620" y="2831592"/>
            <a:ext cx="176168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A9B4D0"/>
                </a:solidFill>
                <a:latin typeface="Helvetica Neue"/>
              </a:rPr>
              <a:t>SCREENING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44824"/>
            <a:ext cx="1907987" cy="420624"/>
          </a:xfrm>
          <a:prstGeom prst="roundRect">
            <a:avLst>
              <a:gd name="adj" fmla="val 14000"/>
            </a:avLst>
          </a:prstGeom>
          <a:solidFill>
            <a:srgbClr val="322A20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50392" y="3544824"/>
            <a:ext cx="176168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SHORTLIST_REVIEW</a:t>
            </a:r>
          </a:p>
        </p:txBody>
      </p:sp>
      <p:sp>
        <p:nvSpPr>
          <p:cNvPr id="19" name="Diamond 18"/>
          <p:cNvSpPr/>
          <p:nvPr/>
        </p:nvSpPr>
        <p:spPr>
          <a:xfrm>
            <a:off x="2502347" y="3517392"/>
            <a:ext cx="146304" cy="146304"/>
          </a:xfrm>
          <a:prstGeom prst="diamond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2959547" y="3544824"/>
            <a:ext cx="1907987" cy="420624"/>
          </a:xfrm>
          <a:prstGeom prst="roundRect">
            <a:avLst>
              <a:gd name="adj" fmla="val 14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032699" y="3544824"/>
            <a:ext cx="176168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A9B4D0"/>
                </a:solidFill>
                <a:latin typeface="Helvetica Neue"/>
              </a:rPr>
              <a:t>INTERVIEW_SCHEDULING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1854" y="3544824"/>
            <a:ext cx="1907987" cy="420624"/>
          </a:xfrm>
          <a:prstGeom prst="roundRect">
            <a:avLst>
              <a:gd name="adj" fmla="val 14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215006" y="3544824"/>
            <a:ext cx="176168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A9B4D0"/>
                </a:solidFill>
                <a:latin typeface="Helvetica Neue"/>
              </a:rPr>
              <a:t>INTERVIEW_SCHEDULED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24161" y="3544824"/>
            <a:ext cx="1907987" cy="420624"/>
          </a:xfrm>
          <a:prstGeom prst="roundRect">
            <a:avLst>
              <a:gd name="adj" fmla="val 14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97313" y="3544824"/>
            <a:ext cx="176168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A9B4D0"/>
                </a:solidFill>
                <a:latin typeface="Helvetica Neue"/>
              </a:rPr>
              <a:t>INTERVIEW_COMPLETED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6468" y="3544824"/>
            <a:ext cx="1907987" cy="420624"/>
          </a:xfrm>
          <a:prstGeom prst="roundRect">
            <a:avLst>
              <a:gd name="adj" fmla="val 14000"/>
            </a:avLst>
          </a:prstGeom>
          <a:solidFill>
            <a:srgbClr val="322A20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579620" y="3544824"/>
            <a:ext cx="176168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FEEDBACK_REVIEW</a:t>
            </a:r>
          </a:p>
        </p:txBody>
      </p:sp>
      <p:sp>
        <p:nvSpPr>
          <p:cNvPr id="28" name="Diamond 27"/>
          <p:cNvSpPr/>
          <p:nvPr/>
        </p:nvSpPr>
        <p:spPr>
          <a:xfrm>
            <a:off x="11231575" y="3517392"/>
            <a:ext cx="146304" cy="146304"/>
          </a:xfrm>
          <a:prstGeom prst="diamond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777240" y="4258056"/>
            <a:ext cx="1907987" cy="420624"/>
          </a:xfrm>
          <a:prstGeom prst="roundRect">
            <a:avLst>
              <a:gd name="adj" fmla="val 14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2" y="4258056"/>
            <a:ext cx="176168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A9B4D0"/>
                </a:solidFill>
                <a:latin typeface="Helvetica Neue"/>
              </a:rPr>
              <a:t>NEXT_ROUND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59547" y="4258056"/>
            <a:ext cx="1907987" cy="420624"/>
          </a:xfrm>
          <a:prstGeom prst="roundRect">
            <a:avLst>
              <a:gd name="adj" fmla="val 14000"/>
            </a:avLst>
          </a:prstGeom>
          <a:solidFill>
            <a:srgbClr val="322A20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032699" y="4258056"/>
            <a:ext cx="176168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FINAL_REVIEW</a:t>
            </a:r>
          </a:p>
        </p:txBody>
      </p:sp>
      <p:sp>
        <p:nvSpPr>
          <p:cNvPr id="33" name="Diamond 32"/>
          <p:cNvSpPr/>
          <p:nvPr/>
        </p:nvSpPr>
        <p:spPr>
          <a:xfrm>
            <a:off x="4684654" y="4230624"/>
            <a:ext cx="146304" cy="146304"/>
          </a:xfrm>
          <a:prstGeom prst="diamond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5141854" y="4258056"/>
            <a:ext cx="1907987" cy="420624"/>
          </a:xfrm>
          <a:prstGeom prst="roundRect">
            <a:avLst>
              <a:gd name="adj" fmla="val 14000"/>
            </a:avLst>
          </a:prstGeom>
          <a:solidFill>
            <a:srgbClr val="322A20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215006" y="4258056"/>
            <a:ext cx="176168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OFFER_APPROVAL</a:t>
            </a:r>
          </a:p>
        </p:txBody>
      </p:sp>
      <p:sp>
        <p:nvSpPr>
          <p:cNvPr id="36" name="Diamond 35"/>
          <p:cNvSpPr/>
          <p:nvPr/>
        </p:nvSpPr>
        <p:spPr>
          <a:xfrm>
            <a:off x="6866961" y="4230624"/>
            <a:ext cx="146304" cy="146304"/>
          </a:xfrm>
          <a:prstGeom prst="diamond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7324161" y="4258056"/>
            <a:ext cx="1907987" cy="420624"/>
          </a:xfrm>
          <a:prstGeom prst="roundRect">
            <a:avLst>
              <a:gd name="adj" fmla="val 14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397313" y="4258056"/>
            <a:ext cx="176168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A9B4D0"/>
                </a:solidFill>
                <a:latin typeface="Helvetica Neue"/>
              </a:rPr>
              <a:t>OFFER_GENERATED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06468" y="4258056"/>
            <a:ext cx="1907987" cy="420624"/>
          </a:xfrm>
          <a:prstGeom prst="roundRect">
            <a:avLst>
              <a:gd name="adj" fmla="val 14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579620" y="4258056"/>
            <a:ext cx="176168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A9B4D0"/>
                </a:solidFill>
                <a:latin typeface="Helvetica Neue"/>
              </a:rPr>
              <a:t>OFFER_SENT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712659" y="3041904"/>
            <a:ext cx="219456" cy="0"/>
          </a:xfrm>
          <a:prstGeom prst="line">
            <a:avLst/>
          </a:prstGeom>
          <a:ln w="12700">
            <a:solidFill>
              <a:srgbClr val="222C4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894966" y="3041904"/>
            <a:ext cx="219456" cy="0"/>
          </a:xfrm>
          <a:prstGeom prst="line">
            <a:avLst/>
          </a:prstGeom>
          <a:ln w="12700">
            <a:solidFill>
              <a:srgbClr val="222C4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077273" y="3041904"/>
            <a:ext cx="219456" cy="0"/>
          </a:xfrm>
          <a:prstGeom prst="line">
            <a:avLst/>
          </a:prstGeom>
          <a:ln w="12700">
            <a:solidFill>
              <a:srgbClr val="222C4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259580" y="3041904"/>
            <a:ext cx="219456" cy="0"/>
          </a:xfrm>
          <a:prstGeom prst="line">
            <a:avLst/>
          </a:prstGeom>
          <a:ln w="12700">
            <a:solidFill>
              <a:srgbClr val="222C4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441887" y="3041904"/>
            <a:ext cx="100584" cy="0"/>
          </a:xfrm>
          <a:prstGeom prst="line">
            <a:avLst/>
          </a:prstGeom>
          <a:ln w="12700">
            <a:solidFill>
              <a:srgbClr val="1A2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542471" y="3041904"/>
            <a:ext cx="0" cy="356616"/>
          </a:xfrm>
          <a:prstGeom prst="line">
            <a:avLst/>
          </a:prstGeom>
          <a:ln w="12700">
            <a:solidFill>
              <a:srgbClr val="1A2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612648" y="3398520"/>
            <a:ext cx="10929823" cy="0"/>
          </a:xfrm>
          <a:prstGeom prst="line">
            <a:avLst/>
          </a:prstGeom>
          <a:ln w="12700">
            <a:solidFill>
              <a:srgbClr val="1A2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12648" y="3398520"/>
            <a:ext cx="0" cy="356616"/>
          </a:xfrm>
          <a:prstGeom prst="line">
            <a:avLst/>
          </a:prstGeom>
          <a:ln w="12700">
            <a:solidFill>
              <a:srgbClr val="1A2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12648" y="3755136"/>
            <a:ext cx="137160" cy="0"/>
          </a:xfrm>
          <a:prstGeom prst="line">
            <a:avLst/>
          </a:prstGeom>
          <a:ln w="12700">
            <a:solidFill>
              <a:srgbClr val="1A23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712659" y="3755136"/>
            <a:ext cx="219456" cy="0"/>
          </a:xfrm>
          <a:prstGeom prst="line">
            <a:avLst/>
          </a:prstGeom>
          <a:ln w="12700">
            <a:solidFill>
              <a:srgbClr val="222C4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94966" y="3755136"/>
            <a:ext cx="219456" cy="0"/>
          </a:xfrm>
          <a:prstGeom prst="line">
            <a:avLst/>
          </a:prstGeom>
          <a:ln w="12700">
            <a:solidFill>
              <a:srgbClr val="222C4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077273" y="3755136"/>
            <a:ext cx="219456" cy="0"/>
          </a:xfrm>
          <a:prstGeom prst="line">
            <a:avLst/>
          </a:prstGeom>
          <a:ln w="12700">
            <a:solidFill>
              <a:srgbClr val="222C4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59580" y="3755136"/>
            <a:ext cx="219456" cy="0"/>
          </a:xfrm>
          <a:prstGeom prst="line">
            <a:avLst/>
          </a:prstGeom>
          <a:ln w="12700">
            <a:solidFill>
              <a:srgbClr val="222C4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441887" y="3755136"/>
            <a:ext cx="100584" cy="0"/>
          </a:xfrm>
          <a:prstGeom prst="line">
            <a:avLst/>
          </a:prstGeom>
          <a:ln w="12700">
            <a:solidFill>
              <a:srgbClr val="1A2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542471" y="3755136"/>
            <a:ext cx="0" cy="356616"/>
          </a:xfrm>
          <a:prstGeom prst="line">
            <a:avLst/>
          </a:prstGeom>
          <a:ln w="12700">
            <a:solidFill>
              <a:srgbClr val="1A2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612648" y="4111752"/>
            <a:ext cx="10929823" cy="0"/>
          </a:xfrm>
          <a:prstGeom prst="line">
            <a:avLst/>
          </a:prstGeom>
          <a:ln w="12700">
            <a:solidFill>
              <a:srgbClr val="1A2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12648" y="4111752"/>
            <a:ext cx="0" cy="356616"/>
          </a:xfrm>
          <a:prstGeom prst="line">
            <a:avLst/>
          </a:prstGeom>
          <a:ln w="12700">
            <a:solidFill>
              <a:srgbClr val="1A2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12648" y="4468368"/>
            <a:ext cx="137160" cy="0"/>
          </a:xfrm>
          <a:prstGeom prst="line">
            <a:avLst/>
          </a:prstGeom>
          <a:ln w="12700">
            <a:solidFill>
              <a:srgbClr val="1A23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712659" y="4468368"/>
            <a:ext cx="219456" cy="0"/>
          </a:xfrm>
          <a:prstGeom prst="line">
            <a:avLst/>
          </a:prstGeom>
          <a:ln w="12700">
            <a:solidFill>
              <a:srgbClr val="222C4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894966" y="4468368"/>
            <a:ext cx="219456" cy="0"/>
          </a:xfrm>
          <a:prstGeom prst="line">
            <a:avLst/>
          </a:prstGeom>
          <a:ln w="12700">
            <a:solidFill>
              <a:srgbClr val="222C4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077273" y="4468368"/>
            <a:ext cx="219456" cy="0"/>
          </a:xfrm>
          <a:prstGeom prst="line">
            <a:avLst/>
          </a:prstGeom>
          <a:ln w="12700">
            <a:solidFill>
              <a:srgbClr val="222C4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259580" y="4468368"/>
            <a:ext cx="219456" cy="0"/>
          </a:xfrm>
          <a:prstGeom prst="line">
            <a:avLst/>
          </a:prstGeom>
          <a:ln w="12700">
            <a:solidFill>
              <a:srgbClr val="222C4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77240" y="49895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6E7C9E"/>
                </a:solidFill>
                <a:latin typeface="Helvetica Neue"/>
              </a:rPr>
              <a:t>TERMINAL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965960" y="4989576"/>
            <a:ext cx="1234440" cy="365760"/>
          </a:xfrm>
          <a:prstGeom prst="roundRect">
            <a:avLst>
              <a:gd name="adj" fmla="val 28000"/>
            </a:avLst>
          </a:prstGeom>
          <a:solidFill>
            <a:srgbClr val="132E34"/>
          </a:solidFill>
          <a:ln w="12700">
            <a:solidFill>
              <a:srgbClr val="296E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1965960" y="4989576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34D399"/>
                </a:solidFill>
                <a:latin typeface="Helvetica Neue"/>
              </a:rPr>
              <a:t>HIRED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328416" y="4989576"/>
            <a:ext cx="1234440" cy="365760"/>
          </a:xfrm>
          <a:prstGeom prst="roundRect">
            <a:avLst>
              <a:gd name="adj" fmla="val 28000"/>
            </a:avLst>
          </a:prstGeom>
          <a:solidFill>
            <a:srgbClr val="2F2131"/>
          </a:solidFill>
          <a:ln w="12700">
            <a:solidFill>
              <a:srgbClr val="784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3328416" y="4989576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FB7185"/>
                </a:solidFill>
                <a:latin typeface="Helvetica Neue"/>
              </a:rPr>
              <a:t>REJECTED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690872" y="4989576"/>
            <a:ext cx="1234440" cy="365760"/>
          </a:xfrm>
          <a:prstGeom prst="roundRect">
            <a:avLst>
              <a:gd name="adj" fmla="val 28000"/>
            </a:avLst>
          </a:prstGeom>
          <a:solidFill>
            <a:srgbClr val="1B2235"/>
          </a:solidFill>
          <a:ln w="12700">
            <a:solidFill>
              <a:srgbClr val="404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4690872" y="4989576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6E7C9E"/>
                </a:solidFill>
                <a:latin typeface="Helvetica Neue"/>
              </a:rPr>
              <a:t>CLOSED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" y="5666232"/>
            <a:ext cx="333847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22D3EE"/>
                </a:solidFill>
                <a:latin typeface="Helvetica Neue"/>
              </a:rPr>
              <a:t>DURABLE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240" y="5903976"/>
            <a:ext cx="333847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A9B4D0"/>
                </a:solidFill>
                <a:latin typeface="Helvetica Neue"/>
              </a:rPr>
              <a:t>Temporal-class workflow engine; state survives restarts and model failures.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26610" y="5666232"/>
            <a:ext cx="333847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22D3EE"/>
                </a:solidFill>
                <a:latin typeface="Helvetica Neue"/>
              </a:rPr>
              <a:t>EVENTED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26610" y="5903976"/>
            <a:ext cx="333847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A9B4D0"/>
                </a:solidFill>
                <a:latin typeface="Helvetica Neue"/>
              </a:rPr>
              <a:t>Every transition emits an event, giving replay and full workflow history.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75980" y="5666232"/>
            <a:ext cx="333847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22D3EE"/>
                </a:solidFill>
                <a:latin typeface="Helvetica Neue"/>
              </a:rPr>
              <a:t>GATED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75980" y="5903976"/>
            <a:ext cx="333847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A9B4D0"/>
                </a:solidFill>
                <a:latin typeface="Helvetica Neue"/>
              </a:rPr>
              <a:t>Amber states cannot advance without a recorded human decision.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74520" y="6382512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Blueprint sec.4, Validation PDF sec.7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08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777240" y="598932"/>
            <a:ext cx="105156" cy="105156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 spc="140">
                <a:solidFill>
                  <a:srgbClr val="22D3EE"/>
                </a:solidFill>
                <a:latin typeface="Helvetica Neue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9148004" cy="1004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Specialized agents with scoped tool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28952"/>
            <a:ext cx="8509772" cy="583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A9B4D0"/>
                </a:solidFill>
                <a:latin typeface="Helvetica Neue"/>
              </a:rPr>
              <a:t>No agent gets unrestricted authority. Each one receives only the tools its job requires, which is what turns a demo into something an enterprise security review will pass.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31592"/>
            <a:ext cx="3399434" cy="1298448"/>
          </a:xfrm>
          <a:prstGeom prst="roundRect">
            <a:avLst>
              <a:gd name="adj" fmla="val 55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77240" y="2831592"/>
            <a:ext cx="32004" cy="1298448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iamond 7"/>
          <p:cNvSpPr/>
          <p:nvPr/>
        </p:nvSpPr>
        <p:spPr>
          <a:xfrm>
            <a:off x="996696" y="3014472"/>
            <a:ext cx="164592" cy="164592"/>
          </a:xfrm>
          <a:prstGeom prst="diamond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52728" y="2996184"/>
            <a:ext cx="270449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Requisition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3270504"/>
            <a:ext cx="296052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Turns a natural-language request into structured requirements.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6" y="3691128"/>
            <a:ext cx="2960522" cy="310896"/>
          </a:xfrm>
          <a:prstGeom prst="roundRect">
            <a:avLst>
              <a:gd name="adj" fmla="val 16000"/>
            </a:avLst>
          </a:prstGeom>
          <a:solidFill>
            <a:srgbClr val="070A14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69848" y="3691128"/>
            <a:ext cx="281421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 i="0">
                <a:solidFill>
                  <a:srgbClr val="4F6BFF"/>
                </a:solidFill>
                <a:latin typeface="Helvetica Neue"/>
              </a:rPr>
              <a:t>Reads role knowledge - writes draft requisition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6130" y="2831592"/>
            <a:ext cx="3399434" cy="1298448"/>
          </a:xfrm>
          <a:prstGeom prst="roundRect">
            <a:avLst>
              <a:gd name="adj" fmla="val 55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96130" y="2831592"/>
            <a:ext cx="32004" cy="12984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iamond 14"/>
          <p:cNvSpPr/>
          <p:nvPr/>
        </p:nvSpPr>
        <p:spPr>
          <a:xfrm>
            <a:off x="4615586" y="3014472"/>
            <a:ext cx="164592" cy="164592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871618" y="2996184"/>
            <a:ext cx="270449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JD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5586" y="3270504"/>
            <a:ext cx="296052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Generates and revises JDs from approved knowledge and templates.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5586" y="3691128"/>
            <a:ext cx="2960522" cy="310896"/>
          </a:xfrm>
          <a:prstGeom prst="roundRect">
            <a:avLst>
              <a:gd name="adj" fmla="val 16000"/>
            </a:avLst>
          </a:prstGeom>
          <a:solidFill>
            <a:srgbClr val="070A14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88738" y="3691128"/>
            <a:ext cx="281421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 i="0">
                <a:solidFill>
                  <a:srgbClr val="22D3EE"/>
                </a:solidFill>
                <a:latin typeface="Helvetica Neue"/>
              </a:rPr>
              <a:t>Writes JD draft - cannot publish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5020" y="2831592"/>
            <a:ext cx="3399434" cy="1298448"/>
          </a:xfrm>
          <a:prstGeom prst="roundRect">
            <a:avLst>
              <a:gd name="adj" fmla="val 55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15020" y="2831592"/>
            <a:ext cx="32004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Diamond 21"/>
          <p:cNvSpPr/>
          <p:nvPr/>
        </p:nvSpPr>
        <p:spPr>
          <a:xfrm>
            <a:off x="8234476" y="3014472"/>
            <a:ext cx="164592" cy="164592"/>
          </a:xfrm>
          <a:prstGeom prst="diamond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90508" y="2996184"/>
            <a:ext cx="270449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Candidate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4476" y="3270504"/>
            <a:ext cx="296052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Extracts evidence and compares candidates to approved requirements.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34476" y="3691128"/>
            <a:ext cx="2960522" cy="310896"/>
          </a:xfrm>
          <a:prstGeom prst="roundRect">
            <a:avLst>
              <a:gd name="adj" fmla="val 16000"/>
            </a:avLst>
          </a:prstGeom>
          <a:solidFill>
            <a:srgbClr val="070A14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307628" y="3691128"/>
            <a:ext cx="281421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 i="0">
                <a:solidFill>
                  <a:srgbClr val="F59E0B"/>
                </a:solidFill>
                <a:latin typeface="Helvetica Neue"/>
              </a:rPr>
              <a:t>Reads applications - writes evaluation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239768"/>
            <a:ext cx="3399434" cy="1298448"/>
          </a:xfrm>
          <a:prstGeom prst="roundRect">
            <a:avLst>
              <a:gd name="adj" fmla="val 55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77240" y="4239768"/>
            <a:ext cx="32004" cy="12984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Diamond 28"/>
          <p:cNvSpPr/>
          <p:nvPr/>
        </p:nvSpPr>
        <p:spPr>
          <a:xfrm>
            <a:off x="996696" y="4422648"/>
            <a:ext cx="164592" cy="164592"/>
          </a:xfrm>
          <a:prstGeom prst="diamond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52728" y="4404360"/>
            <a:ext cx="270449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Scheduling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" y="4678680"/>
            <a:ext cx="296052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Finds compatible slots, confirms and reschedules.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6696" y="5099304"/>
            <a:ext cx="2960522" cy="310896"/>
          </a:xfrm>
          <a:prstGeom prst="roundRect">
            <a:avLst>
              <a:gd name="adj" fmla="val 16000"/>
            </a:avLst>
          </a:prstGeom>
          <a:solidFill>
            <a:srgbClr val="070A14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69848" y="5099304"/>
            <a:ext cx="281421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 i="0">
                <a:solidFill>
                  <a:srgbClr val="34D399"/>
                </a:solidFill>
                <a:latin typeface="Helvetica Neue"/>
              </a:rPr>
              <a:t>Calendar and comms - no hiring decisions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96130" y="4239768"/>
            <a:ext cx="3399434" cy="1298448"/>
          </a:xfrm>
          <a:prstGeom prst="roundRect">
            <a:avLst>
              <a:gd name="adj" fmla="val 55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396130" y="4239768"/>
            <a:ext cx="32004" cy="1298448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Diamond 35"/>
          <p:cNvSpPr/>
          <p:nvPr/>
        </p:nvSpPr>
        <p:spPr>
          <a:xfrm>
            <a:off x="4615586" y="4422648"/>
            <a:ext cx="164592" cy="164592"/>
          </a:xfrm>
          <a:prstGeom prst="diamond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871618" y="4404360"/>
            <a:ext cx="270449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Interview Intelligence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5586" y="4678680"/>
            <a:ext cx="296052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Transcribes, summarizes and maps evidence to competencies.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15586" y="5099304"/>
            <a:ext cx="2960522" cy="310896"/>
          </a:xfrm>
          <a:prstGeom prst="roundRect">
            <a:avLst>
              <a:gd name="adj" fmla="val 16000"/>
            </a:avLst>
          </a:prstGeom>
          <a:solidFill>
            <a:srgbClr val="070A14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688738" y="5099304"/>
            <a:ext cx="281421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 i="0">
                <a:solidFill>
                  <a:srgbClr val="4F6BFF"/>
                </a:solidFill>
                <a:latin typeface="Helvetica Neue"/>
              </a:rPr>
              <a:t>Transcript access - writes feedback draft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15020" y="4239768"/>
            <a:ext cx="3399434" cy="1298448"/>
          </a:xfrm>
          <a:prstGeom prst="roundRect">
            <a:avLst>
              <a:gd name="adj" fmla="val 55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8015020" y="4239768"/>
            <a:ext cx="32004" cy="12984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Diamond 42"/>
          <p:cNvSpPr/>
          <p:nvPr/>
        </p:nvSpPr>
        <p:spPr>
          <a:xfrm>
            <a:off x="8234476" y="4422648"/>
            <a:ext cx="164592" cy="164592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490508" y="4404360"/>
            <a:ext cx="270449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Offer 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34476" y="4678680"/>
            <a:ext cx="296052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Prepares compensation and offer drafts within policy.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34476" y="5099304"/>
            <a:ext cx="2960522" cy="310896"/>
          </a:xfrm>
          <a:prstGeom prst="roundRect">
            <a:avLst>
              <a:gd name="adj" fmla="val 16000"/>
            </a:avLst>
          </a:prstGeom>
          <a:solidFill>
            <a:srgbClr val="070A14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307628" y="5099304"/>
            <a:ext cx="281421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 i="0">
                <a:solidFill>
                  <a:srgbClr val="22D3EE"/>
                </a:solidFill>
                <a:latin typeface="Helvetica Neue"/>
              </a:rPr>
              <a:t>Writes draft - cannot send without approval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" y="5684520"/>
            <a:ext cx="10637215" cy="603504"/>
          </a:xfrm>
          <a:prstGeom prst="roundRect">
            <a:avLst>
              <a:gd name="adj" fmla="val 10000"/>
            </a:avLst>
          </a:prstGeom>
          <a:solidFill>
            <a:srgbClr val="182147"/>
          </a:solidFill>
          <a:ln w="12700">
            <a:solidFill>
              <a:srgbClr val="4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Diamond 48"/>
          <p:cNvSpPr/>
          <p:nvPr/>
        </p:nvSpPr>
        <p:spPr>
          <a:xfrm>
            <a:off x="1033272" y="5858256"/>
            <a:ext cx="256032" cy="256032"/>
          </a:xfrm>
          <a:prstGeom prst="diamond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417320" y="578510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Governance Layer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17320" y="5995416"/>
            <a:ext cx="972281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Enforces authorization, policy, auditability and human gates across every agent. No unrestricted model authority anywhere in the system.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74520" y="6382512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Blueprint sec.6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09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777240" y="598932"/>
            <a:ext cx="105156" cy="105156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 spc="140">
                <a:solidFill>
                  <a:srgbClr val="22D3EE"/>
                </a:solidFill>
                <a:latin typeface="Helvetica Neue"/>
              </a:rPr>
              <a:t>DIFFERENTIATOR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9148004" cy="529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Company hiring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3972"/>
            <a:ext cx="8509772" cy="583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A9B4D0"/>
                </a:solidFill>
                <a:latin typeface="Helvetica Neue"/>
              </a:rPr>
              <a:t>The differentiator is not that we can write a JD. It is that we can write the JD your company would have approved.</a:t>
            </a:r>
          </a:p>
        </p:txBody>
      </p:sp>
      <p:sp>
        <p:nvSpPr>
          <p:cNvPr id="6" name="Chevron 5"/>
          <p:cNvSpPr/>
          <p:nvPr/>
        </p:nvSpPr>
        <p:spPr>
          <a:xfrm>
            <a:off x="777240" y="2356612"/>
            <a:ext cx="1417662" cy="493776"/>
          </a:xfrm>
          <a:prstGeom prst="chevron">
            <a:avLst/>
          </a:prstGeom>
          <a:solidFill>
            <a:srgbClr val="182147"/>
          </a:solidFill>
          <a:ln w="9525">
            <a:solidFill>
              <a:srgbClr val="4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2688" y="2356612"/>
            <a:ext cx="1106766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Document</a:t>
            </a:r>
          </a:p>
        </p:txBody>
      </p:sp>
      <p:sp>
        <p:nvSpPr>
          <p:cNvPr id="8" name="Chevron 7"/>
          <p:cNvSpPr/>
          <p:nvPr/>
        </p:nvSpPr>
        <p:spPr>
          <a:xfrm>
            <a:off x="2094318" y="2356612"/>
            <a:ext cx="1417662" cy="493776"/>
          </a:xfrm>
          <a:prstGeom prst="chevron">
            <a:avLst/>
          </a:prstGeom>
          <a:solidFill>
            <a:srgbClr val="172446"/>
          </a:solidFill>
          <a:ln w="9525">
            <a:solidFill>
              <a:srgbClr val="487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249766" y="2356612"/>
            <a:ext cx="1106766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Classify</a:t>
            </a:r>
          </a:p>
        </p:txBody>
      </p:sp>
      <p:sp>
        <p:nvSpPr>
          <p:cNvPr id="10" name="Chevron 9"/>
          <p:cNvSpPr/>
          <p:nvPr/>
        </p:nvSpPr>
        <p:spPr>
          <a:xfrm>
            <a:off x="3411396" y="2356612"/>
            <a:ext cx="1417662" cy="493776"/>
          </a:xfrm>
          <a:prstGeom prst="chevron">
            <a:avLst/>
          </a:prstGeom>
          <a:solidFill>
            <a:srgbClr val="162646"/>
          </a:solidFill>
          <a:ln w="9525">
            <a:solidFill>
              <a:srgbClr val="428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566844" y="2356612"/>
            <a:ext cx="1106766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Extract</a:t>
            </a:r>
          </a:p>
        </p:txBody>
      </p:sp>
      <p:sp>
        <p:nvSpPr>
          <p:cNvPr id="12" name="Chevron 11"/>
          <p:cNvSpPr/>
          <p:nvPr/>
        </p:nvSpPr>
        <p:spPr>
          <a:xfrm>
            <a:off x="4728474" y="2356612"/>
            <a:ext cx="1417662" cy="493776"/>
          </a:xfrm>
          <a:prstGeom prst="chevron">
            <a:avLst/>
          </a:prstGeom>
          <a:solidFill>
            <a:srgbClr val="152845"/>
          </a:solidFill>
          <a:ln w="9525">
            <a:solidFill>
              <a:srgbClr val="3B9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883922" y="2356612"/>
            <a:ext cx="1106766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Structure facts</a:t>
            </a:r>
          </a:p>
        </p:txBody>
      </p:sp>
      <p:sp>
        <p:nvSpPr>
          <p:cNvPr id="14" name="Chevron 13"/>
          <p:cNvSpPr/>
          <p:nvPr/>
        </p:nvSpPr>
        <p:spPr>
          <a:xfrm>
            <a:off x="6045552" y="2356612"/>
            <a:ext cx="1417662" cy="493776"/>
          </a:xfrm>
          <a:prstGeom prst="chevron">
            <a:avLst/>
          </a:prstGeom>
          <a:solidFill>
            <a:srgbClr val="142B45"/>
          </a:solidFill>
          <a:ln w="9525">
            <a:solidFill>
              <a:srgbClr val="35A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01000" y="2356612"/>
            <a:ext cx="1106766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Chunk</a:t>
            </a:r>
          </a:p>
        </p:txBody>
      </p:sp>
      <p:sp>
        <p:nvSpPr>
          <p:cNvPr id="16" name="Chevron 15"/>
          <p:cNvSpPr/>
          <p:nvPr/>
        </p:nvSpPr>
        <p:spPr>
          <a:xfrm>
            <a:off x="7362630" y="2356612"/>
            <a:ext cx="1417662" cy="493776"/>
          </a:xfrm>
          <a:prstGeom prst="chevron">
            <a:avLst/>
          </a:prstGeom>
          <a:solidFill>
            <a:srgbClr val="132D44"/>
          </a:solidFill>
          <a:ln w="9525">
            <a:solidFill>
              <a:srgbClr val="2EB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518078" y="2356612"/>
            <a:ext cx="1106766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Embed</a:t>
            </a:r>
          </a:p>
        </p:txBody>
      </p:sp>
      <p:sp>
        <p:nvSpPr>
          <p:cNvPr id="18" name="Chevron 17"/>
          <p:cNvSpPr/>
          <p:nvPr/>
        </p:nvSpPr>
        <p:spPr>
          <a:xfrm>
            <a:off x="8679708" y="2356612"/>
            <a:ext cx="1417662" cy="493776"/>
          </a:xfrm>
          <a:prstGeom prst="chevron">
            <a:avLst/>
          </a:prstGeom>
          <a:solidFill>
            <a:srgbClr val="123044"/>
          </a:solidFill>
          <a:ln w="9525">
            <a:solidFill>
              <a:srgbClr val="28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835156" y="2356612"/>
            <a:ext cx="1106766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Permission-aware retrieval</a:t>
            </a:r>
          </a:p>
        </p:txBody>
      </p:sp>
      <p:sp>
        <p:nvSpPr>
          <p:cNvPr id="20" name="Chevron 19"/>
          <p:cNvSpPr/>
          <p:nvPr/>
        </p:nvSpPr>
        <p:spPr>
          <a:xfrm>
            <a:off x="9996786" y="2356612"/>
            <a:ext cx="1417662" cy="493776"/>
          </a:xfrm>
          <a:prstGeom prst="chevron">
            <a:avLst/>
          </a:prstGeom>
          <a:solidFill>
            <a:srgbClr val="113244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152234" y="2356612"/>
            <a:ext cx="1106766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Grounded generation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124708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77240" y="3124708"/>
            <a:ext cx="5212080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33272" y="3325876"/>
            <a:ext cx="470001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22D3EE"/>
                </a:solidFill>
                <a:latin typeface="Helvetica Neue"/>
              </a:rPr>
              <a:t>WHAT THE MEMORY HOLDS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3636772"/>
            <a:ext cx="4700016" cy="1517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173736" indent="-173736">
              <a:lnSpc>
                <a:spcPct val="120000"/>
              </a:lnSpc>
              <a:spcAft>
                <a:spcPts val="60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1100">
                <a:solidFill>
                  <a:srgbClr val="A9B4D0"/>
                </a:solidFill>
                <a:latin typeface="Helvetica Neue"/>
              </a:rPr>
              <a:t>Approved JDs and templates</a:t>
            </a:r>
          </a:p>
          <a:p>
            <a:pPr marL="173736" indent="-173736">
              <a:lnSpc>
                <a:spcPct val="120000"/>
              </a:lnSpc>
              <a:spcAft>
                <a:spcPts val="60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1100">
                <a:solidFill>
                  <a:srgbClr val="A9B4D0"/>
                </a:solidFill>
                <a:latin typeface="Helvetica Neue"/>
              </a:rPr>
              <a:t>Salary bands and hiring policy</a:t>
            </a:r>
          </a:p>
          <a:p>
            <a:pPr marL="173736" indent="-173736">
              <a:lnSpc>
                <a:spcPct val="120000"/>
              </a:lnSpc>
              <a:spcAft>
                <a:spcPts val="60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1100">
                <a:solidFill>
                  <a:srgbClr val="A9B4D0"/>
                </a:solidFill>
                <a:latin typeface="Helvetica Neue"/>
              </a:rPr>
              <a:t>Competency frameworks</a:t>
            </a:r>
          </a:p>
          <a:p>
            <a:pPr marL="173736" indent="-173736">
              <a:lnSpc>
                <a:spcPct val="120000"/>
              </a:lnSpc>
              <a:spcAft>
                <a:spcPts val="60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1100">
                <a:solidFill>
                  <a:srgbClr val="A9B4D0"/>
                </a:solidFill>
                <a:latin typeface="Helvetica Neue"/>
              </a:rPr>
              <a:t>Interview structures per role and level</a:t>
            </a:r>
          </a:p>
          <a:p>
            <a:pPr marL="173736" indent="-173736">
              <a:lnSpc>
                <a:spcPct val="120000"/>
              </a:lnSpc>
              <a:spcAft>
                <a:spcPts val="60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1100">
                <a:solidFill>
                  <a:srgbClr val="A9B4D0"/>
                </a:solidFill>
                <a:latin typeface="Helvetica Neue"/>
              </a:rPr>
              <a:t>Org roles, levels and approval hierarchy</a:t>
            </a:r>
          </a:p>
          <a:p>
            <a:pPr marL="173736" indent="-173736">
              <a:lnSpc>
                <a:spcPct val="120000"/>
              </a:lnSpc>
              <a:spcAft>
                <a:spcPts val="60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1100">
                <a:solidFill>
                  <a:srgbClr val="A9B4D0"/>
                </a:solidFill>
                <a:latin typeface="Helvetica Neue"/>
              </a:rPr>
              <a:t>Relevant historical hiring context</a:t>
            </a:r>
          </a:p>
        </p:txBody>
      </p:sp>
      <p:pic>
        <p:nvPicPr>
          <p:cNvPr id="26" name="Picture 25" descr="section-memory.png"/>
          <p:cNvPicPr>
            <a:picLocks noChangeAspect="1"/>
          </p:cNvPicPr>
          <p:nvPr/>
        </p:nvPicPr>
        <p:blipFill>
          <a:blip r:embed="rId2">
            <a:alphaModFix amt="78000"/>
          </a:blip>
          <a:srcRect t="17350" b="17350"/>
          <a:stretch>
            <a:fillRect/>
          </a:stretch>
        </p:blipFill>
        <p:spPr>
          <a:xfrm>
            <a:off x="6373368" y="3124708"/>
            <a:ext cx="5041087" cy="219456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373368" y="3124708"/>
            <a:ext cx="5041087" cy="219456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777240" y="5538724"/>
            <a:ext cx="10637215" cy="745490"/>
          </a:xfrm>
          <a:prstGeom prst="roundRect">
            <a:avLst>
              <a:gd name="adj" fmla="val 10000"/>
            </a:avLst>
          </a:prstGeom>
          <a:solidFill>
            <a:srgbClr val="252121"/>
          </a:solidFill>
          <a:ln w="12700">
            <a:solidFill>
              <a:srgbClr val="6B5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77240" y="5538724"/>
            <a:ext cx="41148" cy="74549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14984" y="5721604"/>
            <a:ext cx="10216591" cy="379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150" b="1">
                <a:solidFill>
                  <a:srgbClr val="F59E0B"/>
                </a:solidFill>
                <a:latin typeface="Helvetica Neue"/>
              </a:rPr>
              <a:t>The discipline that matters  </a:t>
            </a:r>
            <a:r>
              <a:rPr sz="1150">
                <a:solidFill>
                  <a:srgbClr val="A9B4D0"/>
                </a:solidFill>
                <a:latin typeface="Helvetica Neue"/>
              </a:rPr>
              <a:t>Historical hiring decisions are not ground truth. History carries bias and inconsistency, so the product separates historical pattern from approved policy and treats the past as context, never as authority.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20" y="6382512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Blueprint sec.7, Validation PDF sec.9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777240" y="598932"/>
            <a:ext cx="105156" cy="105156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 spc="140">
                <a:solidFill>
                  <a:srgbClr val="22D3EE"/>
                </a:solidFill>
                <a:latin typeface="Helvetica Neue"/>
              </a:rPr>
              <a:t>DIFFERENTIATOR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9148004" cy="529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Evidence, not a black-box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3972"/>
            <a:ext cx="8509772" cy="583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A9B4D0"/>
                </a:solidFill>
                <a:latin typeface="Helvetica Neue"/>
              </a:rPr>
              <a:t>A number a hiring manager cannot interrogate is a number they will not defend. So we never ship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56612"/>
            <a:ext cx="69037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22D3EE"/>
                </a:solidFill>
                <a:latin typeface="Helvetica Neue"/>
              </a:rPr>
              <a:t>CANDIDATE EVALUATION - DATA SCIENTIST, L3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67508"/>
            <a:ext cx="6903720" cy="310896"/>
          </a:xfrm>
          <a:prstGeom prst="rect">
            <a:avLst/>
          </a:prstGeom>
          <a:solidFill>
            <a:srgbClr val="151E33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05256" y="2667508"/>
            <a:ext cx="138988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00">
                <a:solidFill>
                  <a:srgbClr val="6E7C9E"/>
                </a:solidFill>
                <a:latin typeface="Helvetica Neue"/>
              </a:rPr>
              <a:t>COMPETENCY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8024" y="2667508"/>
            <a:ext cx="35204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00">
                <a:solidFill>
                  <a:srgbClr val="6E7C9E"/>
                </a:solidFill>
                <a:latin typeface="Helvetica Neue"/>
              </a:rPr>
              <a:t>EVIDENCE FOUND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1344" y="2667508"/>
            <a:ext cx="14447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00">
                <a:solidFill>
                  <a:srgbClr val="6E7C9E"/>
                </a:solidFill>
                <a:latin typeface="Helvetica Neue"/>
              </a:rPr>
              <a:t>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978404"/>
            <a:ext cx="6903720" cy="512064"/>
          </a:xfrm>
          <a:prstGeom prst="rect">
            <a:avLst/>
          </a:prstGeom>
          <a:solidFill>
            <a:srgbClr val="0E1424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05256" y="2978404"/>
            <a:ext cx="1389888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8024" y="2978404"/>
            <a:ext cx="34838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A9B4D0"/>
                </a:solidFill>
                <a:latin typeface="Helvetica Neue"/>
              </a:rPr>
              <a:t>Production development and shipped project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3101848"/>
            <a:ext cx="1353312" cy="265176"/>
          </a:xfrm>
          <a:prstGeom prst="roundRect">
            <a:avLst>
              <a:gd name="adj" fmla="val 22000"/>
            </a:avLst>
          </a:prstGeom>
          <a:solidFill>
            <a:srgbClr val="0B2E3B"/>
          </a:solidFill>
          <a:ln w="12700">
            <a:solidFill>
              <a:srgbClr val="2277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81344" y="3101848"/>
            <a:ext cx="1353312" cy="2651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1" i="0">
                <a:solidFill>
                  <a:srgbClr val="22D3EE"/>
                </a:solidFill>
                <a:latin typeface="Helvetica Neue"/>
              </a:rPr>
              <a:t>Strong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490468"/>
            <a:ext cx="6903720" cy="512064"/>
          </a:xfrm>
          <a:prstGeom prst="rect">
            <a:avLst/>
          </a:prstGeom>
          <a:solidFill>
            <a:srgbClr val="151E33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5256" y="3490468"/>
            <a:ext cx="1389888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78024" y="3490468"/>
            <a:ext cx="34838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A9B4D0"/>
                </a:solidFill>
                <a:latin typeface="Helvetica Neue"/>
              </a:rPr>
              <a:t>Analytics and data-engineering work across two roles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3613912"/>
            <a:ext cx="1353312" cy="265176"/>
          </a:xfrm>
          <a:prstGeom prst="roundRect">
            <a:avLst>
              <a:gd name="adj" fmla="val 22000"/>
            </a:avLst>
          </a:prstGeom>
          <a:solidFill>
            <a:srgbClr val="0B2E3B"/>
          </a:solidFill>
          <a:ln w="12700">
            <a:solidFill>
              <a:srgbClr val="2277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81344" y="3613912"/>
            <a:ext cx="1353312" cy="2651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1" i="0">
                <a:solidFill>
                  <a:srgbClr val="22D3EE"/>
                </a:solidFill>
                <a:latin typeface="Helvetica Neue"/>
              </a:rPr>
              <a:t>Strong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002532"/>
            <a:ext cx="6903720" cy="512064"/>
          </a:xfrm>
          <a:prstGeom prst="rect">
            <a:avLst/>
          </a:prstGeom>
          <a:solidFill>
            <a:srgbClr val="0E1424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05256" y="4002532"/>
            <a:ext cx="1389888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Machine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78024" y="4002532"/>
            <a:ext cx="34838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A9B4D0"/>
                </a:solidFill>
                <a:latin typeface="Helvetica Neue"/>
              </a:rPr>
              <a:t>Production ML projects with measured outcomes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344" y="4125976"/>
            <a:ext cx="1353312" cy="265176"/>
          </a:xfrm>
          <a:prstGeom prst="roundRect">
            <a:avLst>
              <a:gd name="adj" fmla="val 22000"/>
            </a:avLst>
          </a:prstGeom>
          <a:solidFill>
            <a:srgbClr val="0F2E2B"/>
          </a:solidFill>
          <a:ln w="12700">
            <a:solidFill>
              <a:srgbClr val="2A7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81344" y="4125976"/>
            <a:ext cx="1353312" cy="2651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1" i="0">
                <a:solidFill>
                  <a:srgbClr val="34D399"/>
                </a:solidFill>
                <a:latin typeface="Helvetica Neue"/>
              </a:rPr>
              <a:t>Very strong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514596"/>
            <a:ext cx="6903720" cy="512064"/>
          </a:xfrm>
          <a:prstGeom prst="rect">
            <a:avLst/>
          </a:prstGeom>
          <a:solidFill>
            <a:srgbClr val="151E33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5256" y="4514596"/>
            <a:ext cx="1389888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AWS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78024" y="4514596"/>
            <a:ext cx="34838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A9B4D0"/>
                </a:solidFill>
                <a:latin typeface="Helvetica Neue"/>
              </a:rPr>
              <a:t>Cloud deployment and infrastructure experience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638040"/>
            <a:ext cx="1353312" cy="265176"/>
          </a:xfrm>
          <a:prstGeom prst="roundRect">
            <a:avLst>
              <a:gd name="adj" fmla="val 22000"/>
            </a:avLst>
          </a:prstGeom>
          <a:solidFill>
            <a:srgbClr val="0B2E3B"/>
          </a:solidFill>
          <a:ln w="12700">
            <a:solidFill>
              <a:srgbClr val="2277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181344" y="4638040"/>
            <a:ext cx="1353312" cy="2651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1" i="0">
                <a:solidFill>
                  <a:srgbClr val="22D3EE"/>
                </a:solidFill>
                <a:latin typeface="Helvetica Neue"/>
              </a:rPr>
              <a:t>Strong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026660"/>
            <a:ext cx="6903720" cy="512064"/>
          </a:xfrm>
          <a:prstGeom prst="rect">
            <a:avLst/>
          </a:prstGeom>
          <a:solidFill>
            <a:srgbClr val="0E1424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05256" y="5026660"/>
            <a:ext cx="1389888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System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78024" y="5026660"/>
            <a:ext cx="34838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A9B4D0"/>
                </a:solidFill>
                <a:latin typeface="Helvetica Neue"/>
              </a:rPr>
              <a:t>No direct architecture evidence in the record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5150104"/>
            <a:ext cx="1353312" cy="265176"/>
          </a:xfrm>
          <a:prstGeom prst="roundRect">
            <a:avLst>
              <a:gd name="adj" fmla="val 22000"/>
            </a:avLst>
          </a:prstGeom>
          <a:solidFill>
            <a:srgbClr val="312412"/>
          </a:solidFill>
          <a:ln w="12700">
            <a:solidFill>
              <a:srgbClr val="805F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181344" y="5150104"/>
            <a:ext cx="1353312" cy="2651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1" i="0">
                <a:solidFill>
                  <a:srgbClr val="F59E0B"/>
                </a:solidFill>
                <a:latin typeface="Helvetica Neue"/>
              </a:rPr>
              <a:t>Gap to validate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83296" y="2667508"/>
            <a:ext cx="3331159" cy="1517904"/>
          </a:xfrm>
          <a:prstGeom prst="roundRect">
            <a:avLst>
              <a:gd name="adj" fmla="val 6000"/>
            </a:avLst>
          </a:prstGeom>
          <a:solidFill>
            <a:srgbClr val="11272F"/>
          </a:solidFill>
          <a:ln w="12700">
            <a:solidFill>
              <a:srgbClr val="296E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083296" y="2667508"/>
            <a:ext cx="3331159" cy="3657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302752" y="2850388"/>
            <a:ext cx="2892247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34D399"/>
                </a:solidFill>
                <a:latin typeface="Helvetica Neue"/>
              </a:rPr>
              <a:t>RECOMMENDATION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3088132"/>
            <a:ext cx="289224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Helvetica Neue"/>
              </a:rPr>
              <a:t>Proceed to next round.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3417316"/>
            <a:ext cx="2892247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Strong evidence against four of five approved competencies. The System Design gap is flagged for interviewer validation rather than silently averaged into a score.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83296" y="4368292"/>
            <a:ext cx="33311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22D3EE"/>
                </a:solidFill>
                <a:latin typeface="Helvetica Neue"/>
              </a:rPr>
              <a:t>EVERY EVALUATION RETURNS</a:t>
            </a:r>
          </a:p>
        </p:txBody>
      </p:sp>
      <p:sp>
        <p:nvSpPr>
          <p:cNvPr id="42" name="Diamond 41"/>
          <p:cNvSpPr/>
          <p:nvPr/>
        </p:nvSpPr>
        <p:spPr>
          <a:xfrm>
            <a:off x="8078724" y="4647184"/>
            <a:ext cx="118872" cy="118872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284464" y="4624324"/>
            <a:ext cx="312999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Matched requirements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4464" y="4816348"/>
            <a:ext cx="3129991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Which approved competencies are actually met</a:t>
            </a:r>
          </a:p>
        </p:txBody>
      </p:sp>
      <p:sp>
        <p:nvSpPr>
          <p:cNvPr id="45" name="Diamond 44"/>
          <p:cNvSpPr/>
          <p:nvPr/>
        </p:nvSpPr>
        <p:spPr>
          <a:xfrm>
            <a:off x="8078724" y="5049520"/>
            <a:ext cx="118872" cy="118872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284464" y="5026660"/>
            <a:ext cx="312999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Supporting evidence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84464" y="5218684"/>
            <a:ext cx="3129991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The specific text the judgment came from</a:t>
            </a:r>
          </a:p>
        </p:txBody>
      </p:sp>
      <p:sp>
        <p:nvSpPr>
          <p:cNvPr id="48" name="Diamond 47"/>
          <p:cNvSpPr/>
          <p:nvPr/>
        </p:nvSpPr>
        <p:spPr>
          <a:xfrm>
            <a:off x="8078724" y="5451856"/>
            <a:ext cx="118872" cy="118872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284464" y="5428996"/>
            <a:ext cx="312999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Gaps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4464" y="5621020"/>
            <a:ext cx="3129991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What is missing, stated plainly</a:t>
            </a:r>
          </a:p>
        </p:txBody>
      </p:sp>
      <p:sp>
        <p:nvSpPr>
          <p:cNvPr id="51" name="Diamond 50"/>
          <p:cNvSpPr/>
          <p:nvPr/>
        </p:nvSpPr>
        <p:spPr>
          <a:xfrm>
            <a:off x="8078724" y="5854192"/>
            <a:ext cx="118872" cy="118872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284464" y="5831332"/>
            <a:ext cx="312999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Confidence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84464" y="6023356"/>
            <a:ext cx="3129991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How much the evidence supports the call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74520" y="6382512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Blueprint sec.8, Validation PDF sec.10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777240" y="598932"/>
            <a:ext cx="105156" cy="105156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 spc="140">
                <a:solidFill>
                  <a:srgbClr val="22D3EE"/>
                </a:solidFill>
                <a:latin typeface="Helvetica Neue"/>
              </a:rPr>
              <a:t>ADOPTION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9148004" cy="529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Earn autonomy one rung at 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3972"/>
            <a:ext cx="8509772" cy="8473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A9B4D0"/>
                </a:solidFill>
                <a:latin typeface="Helvetica Neue"/>
              </a:rPr>
              <a:t>Enterprises do not buy autonomy on day one; they grant it after the system proves itself. That progression is our expansion motion, and the override data we collect is what makes the next rung defensible.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169412"/>
            <a:ext cx="3362858" cy="2103120"/>
          </a:xfrm>
          <a:prstGeom prst="roundRect">
            <a:avLst>
              <a:gd name="adj" fmla="val 5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77240" y="3169412"/>
            <a:ext cx="3362858" cy="41148"/>
          </a:xfrm>
          <a:prstGeom prst="rect">
            <a:avLst/>
          </a:prstGeom>
          <a:solidFill>
            <a:srgbClr val="6E7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33272" y="3407156"/>
            <a:ext cx="28507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30">
                <a:solidFill>
                  <a:srgbClr val="6E7C9E"/>
                </a:solidFill>
                <a:latin typeface="Helvetica Neue"/>
              </a:rPr>
              <a:t>RUNG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3663188"/>
            <a:ext cx="285079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400" b="1" i="0" spc="-60">
                <a:solidFill>
                  <a:srgbClr val="FFFFFF"/>
                </a:solidFill>
                <a:latin typeface="Helvetica Neue"/>
              </a:rPr>
              <a:t>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4120388"/>
            <a:ext cx="285079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AI recommends. Human executes.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4650740"/>
            <a:ext cx="28507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1" i="0" spc="120">
                <a:solidFill>
                  <a:srgbClr val="6E7C9E"/>
                </a:solidFill>
                <a:latin typeface="Helvetica Neue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4851908"/>
            <a:ext cx="2850794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 i="0">
                <a:solidFill>
                  <a:srgbClr val="A9B4D0"/>
                </a:solidFill>
                <a:latin typeface="Helvetica Neue"/>
              </a:rPr>
              <a:t>Candidate recommendation with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3272" y="4797044"/>
            <a:ext cx="2850794" cy="292608"/>
          </a:xfrm>
          <a:prstGeom prst="roundRect">
            <a:avLst>
              <a:gd name="adj" fmla="val 20000"/>
            </a:avLst>
          </a:prstGeom>
          <a:solidFill>
            <a:srgbClr val="1B202F"/>
          </a:solidFill>
          <a:ln w="12700">
            <a:solidFill>
              <a:srgbClr val="445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33272" y="4797044"/>
            <a:ext cx="2850794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1" i="0">
                <a:solidFill>
                  <a:srgbClr val="6E7C9E"/>
                </a:solidFill>
                <a:latin typeface="Helvetica Neue"/>
              </a:rPr>
              <a:t>Land here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4418" y="2895092"/>
            <a:ext cx="3362858" cy="2377440"/>
          </a:xfrm>
          <a:prstGeom prst="roundRect">
            <a:avLst>
              <a:gd name="adj" fmla="val 5000"/>
            </a:avLst>
          </a:prstGeom>
          <a:solidFill>
            <a:srgbClr val="172042"/>
          </a:solidFill>
          <a:ln w="12700">
            <a:solidFill>
              <a:srgbClr val="4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414418" y="2895092"/>
            <a:ext cx="3362858" cy="41148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70450" y="3132836"/>
            <a:ext cx="28507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30">
                <a:solidFill>
                  <a:srgbClr val="4F6BFF"/>
                </a:solidFill>
                <a:latin typeface="Helvetica Neue"/>
              </a:rPr>
              <a:t>RUNG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0450" y="3388868"/>
            <a:ext cx="285079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400" b="1" i="0" spc="-60">
                <a:solidFill>
                  <a:srgbClr val="FFFFFF"/>
                </a:solidFill>
                <a:latin typeface="Helvetica Neue"/>
              </a:rPr>
              <a:t>Assisted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0450" y="3846068"/>
            <a:ext cx="285079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AI prepares the action. Human approves.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0450" y="4376420"/>
            <a:ext cx="28507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1" i="0" spc="120">
                <a:solidFill>
                  <a:srgbClr val="6E7C9E"/>
                </a:solidFill>
                <a:latin typeface="Helvetica Neue"/>
              </a:rPr>
              <a:t>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0450" y="4577588"/>
            <a:ext cx="2850794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 i="0">
                <a:solidFill>
                  <a:srgbClr val="A9B4D0"/>
                </a:solidFill>
                <a:latin typeface="Helvetica Neue"/>
              </a:rPr>
              <a:t>JD, shortlist and offer drafts.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70450" y="4797044"/>
            <a:ext cx="2850794" cy="292608"/>
          </a:xfrm>
          <a:prstGeom prst="roundRect">
            <a:avLst>
              <a:gd name="adj" fmla="val 20000"/>
            </a:avLst>
          </a:prstGeom>
          <a:solidFill>
            <a:srgbClr val="151D43"/>
          </a:solidFill>
          <a:ln w="12700">
            <a:solidFill>
              <a:srgbClr val="36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670450" y="4797044"/>
            <a:ext cx="2850794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1" i="0">
                <a:solidFill>
                  <a:srgbClr val="4F6BFF"/>
                </a:solidFill>
                <a:latin typeface="Helvetica Neue"/>
              </a:rPr>
              <a:t>Core of the product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51596" y="2620772"/>
            <a:ext cx="3362858" cy="2651760"/>
          </a:xfrm>
          <a:prstGeom prst="roundRect">
            <a:avLst>
              <a:gd name="adj" fmla="val 5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051596" y="2620772"/>
            <a:ext cx="3362858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307628" y="2858516"/>
            <a:ext cx="28507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30">
                <a:solidFill>
                  <a:srgbClr val="22D3EE"/>
                </a:solidFill>
                <a:latin typeface="Helvetica Neue"/>
              </a:rPr>
              <a:t>RUNG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7628" y="3114548"/>
            <a:ext cx="285079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400" b="1" i="0" spc="-60">
                <a:solidFill>
                  <a:srgbClr val="FFFFFF"/>
                </a:solidFill>
                <a:latin typeface="Helvetica Neue"/>
              </a:rPr>
              <a:t>Autopilot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7628" y="3571748"/>
            <a:ext cx="285079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AI executes low-risk actions within policy.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7628" y="4102100"/>
            <a:ext cx="28507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1" i="0" spc="120">
                <a:solidFill>
                  <a:srgbClr val="6E7C9E"/>
                </a:solidFill>
                <a:latin typeface="Helvetica Neue"/>
              </a:rPr>
              <a:t>EXAMPLE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7628" y="4303268"/>
            <a:ext cx="2850794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 i="0">
                <a:solidFill>
                  <a:srgbClr val="A9B4D0"/>
                </a:solidFill>
                <a:latin typeface="Helvetica Neue"/>
              </a:rPr>
              <a:t>Interview reminders, approved notifications.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07628" y="4797044"/>
            <a:ext cx="2850794" cy="292608"/>
          </a:xfrm>
          <a:prstGeom prst="roundRect">
            <a:avLst>
              <a:gd name="adj" fmla="val 20000"/>
            </a:avLst>
          </a:prstGeom>
          <a:solidFill>
            <a:srgbClr val="0C323F"/>
          </a:solidFill>
          <a:ln w="12700">
            <a:solidFill>
              <a:srgbClr val="2277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07628" y="4797044"/>
            <a:ext cx="2850794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1" i="0">
                <a:solidFill>
                  <a:srgbClr val="22D3EE"/>
                </a:solidFill>
                <a:latin typeface="Helvetica Neue"/>
              </a:rPr>
              <a:t>Expand here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7240" y="5455412"/>
            <a:ext cx="10637215" cy="0"/>
          </a:xfrm>
          <a:prstGeom prst="line">
            <a:avLst/>
          </a:prstGeom>
          <a:ln w="15875">
            <a:solidFill>
              <a:srgbClr val="222C4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7240" y="552856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20">
                <a:solidFill>
                  <a:srgbClr val="6E7C9E"/>
                </a:solidFill>
                <a:latin typeface="Helvetica Neue"/>
              </a:rPr>
              <a:t>INCREASING DELEGATED AUTHORITY, EARNED WITH EVIDENCE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839460"/>
            <a:ext cx="41148" cy="2661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51560" y="5839460"/>
            <a:ext cx="9326880" cy="266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Moving a customer from Copilot to Assisted to Autopilot raises both the value we deliver and the price we can defend.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20" y="6382512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Blueprint sec.16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ction-governance.pn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90352" cy="6858000"/>
          </a:xfrm>
          <a:prstGeom prst="rect">
            <a:avLst/>
          </a:prstGeom>
          <a:gradFill rotWithShape="1">
            <a:gsLst>
              <a:gs pos="0">
                <a:srgbClr val="070A14">
                  <a:alpha val="95000"/>
                </a:srgbClr>
              </a:gs>
              <a:gs pos="100000">
                <a:srgbClr val="070A14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67712"/>
            <a:ext cx="1828800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600" b="1" i="0">
                <a:solidFill>
                  <a:srgbClr val="2E3F95"/>
                </a:solidFill>
                <a:latin typeface="Helvetica Neue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236976"/>
            <a:ext cx="1554480" cy="41148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4F6B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93008"/>
            <a:ext cx="64008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4000" b="1" i="0" spc="-100">
                <a:solidFill>
                  <a:srgbClr val="FFFFFF"/>
                </a:solidFill>
                <a:latin typeface="Helvetica Neue"/>
              </a:rPr>
              <a:t>Trust and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51376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A9B4D0"/>
                </a:solidFill>
                <a:latin typeface="Helvetica Neue"/>
              </a:rPr>
              <a:t>The part that decides whether an enterprise can actually deploy this.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777240" y="598932"/>
            <a:ext cx="105156" cy="105156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 spc="140">
                <a:solidFill>
                  <a:srgbClr val="22D3EE"/>
                </a:solidFill>
                <a:latin typeface="Helvetica Neue"/>
              </a:rPr>
              <a:t>ENTERPRISE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9148004" cy="1004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Built for the security review, not retrofitted for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28952"/>
            <a:ext cx="8509772" cy="583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A9B4D0"/>
                </a:solidFill>
                <a:latin typeface="Helvetica Neue"/>
              </a:rPr>
              <a:t>Enterprise HR data is among the most sensitive a company holds. The architecture assumes that from the first commit.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1592"/>
            <a:ext cx="48920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22D3EE"/>
                </a:solidFill>
                <a:latin typeface="Helvetica Neue"/>
              </a:rPr>
              <a:t>DEFENCE IN DEPTH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124200"/>
            <a:ext cx="4892040" cy="292608"/>
          </a:xfrm>
          <a:prstGeom prst="roundRect">
            <a:avLst>
              <a:gd name="adj" fmla="val 14000"/>
            </a:avLst>
          </a:prstGeom>
          <a:solidFill>
            <a:srgbClr val="2A1F2F"/>
          </a:solidFill>
          <a:ln w="12700">
            <a:solidFill>
              <a:srgbClr val="6D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77240" y="3124200"/>
            <a:ext cx="36576" cy="29260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3124200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Internet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3124200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A9B4D0"/>
                </a:solidFill>
                <a:latin typeface="Helvetica Neue"/>
              </a:rPr>
              <a:t>Untrusted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23260" y="3416808"/>
            <a:ext cx="0" cy="45720"/>
          </a:xfrm>
          <a:prstGeom prst="line">
            <a:avLst/>
          </a:prstGeom>
          <a:ln w="9525">
            <a:solidFill>
              <a:srgbClr val="1A23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7240" y="3462528"/>
            <a:ext cx="4892040" cy="292608"/>
          </a:xfrm>
          <a:prstGeom prst="roundRect">
            <a:avLst>
              <a:gd name="adj" fmla="val 14000"/>
            </a:avLst>
          </a:prstGeom>
          <a:solidFill>
            <a:srgbClr val="252132"/>
          </a:solidFill>
          <a:ln w="12700">
            <a:solidFill>
              <a:srgbClr val="5E4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77240" y="3462528"/>
            <a:ext cx="36576" cy="292608"/>
          </a:xfrm>
          <a:prstGeom prst="rect">
            <a:avLst/>
          </a:prstGeom>
          <a:solidFill>
            <a:srgbClr val="CF8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0120" y="3462528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WAF / 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462528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A9B4D0"/>
                </a:solidFill>
                <a:latin typeface="Helvetica Neue"/>
              </a:rPr>
              <a:t>Rate limits, request validation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23260" y="3755136"/>
            <a:ext cx="0" cy="45720"/>
          </a:xfrm>
          <a:prstGeom prst="line">
            <a:avLst/>
          </a:prstGeom>
          <a:ln w="9525">
            <a:solidFill>
              <a:srgbClr val="1A23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7240" y="3800856"/>
            <a:ext cx="4892040" cy="292608"/>
          </a:xfrm>
          <a:prstGeom prst="roundRect">
            <a:avLst>
              <a:gd name="adj" fmla="val 14000"/>
            </a:avLst>
          </a:prstGeom>
          <a:solidFill>
            <a:srgbClr val="202334"/>
          </a:solidFill>
          <a:ln w="12700">
            <a:solidFill>
              <a:srgbClr val="4F5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77240" y="3800856"/>
            <a:ext cx="36576" cy="292608"/>
          </a:xfrm>
          <a:prstGeom prst="rect">
            <a:avLst/>
          </a:prstGeom>
          <a:solidFill>
            <a:srgbClr val="A49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800856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Identity / SSO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800856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A9B4D0"/>
                </a:solidFill>
                <a:latin typeface="Helvetica Neue"/>
              </a:rPr>
              <a:t>Enterprise SSO, MFA, SCIM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23260" y="4093464"/>
            <a:ext cx="0" cy="45720"/>
          </a:xfrm>
          <a:prstGeom prst="line">
            <a:avLst/>
          </a:prstGeom>
          <a:ln w="9525">
            <a:solidFill>
              <a:srgbClr val="1A23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" y="4139184"/>
            <a:ext cx="4892040" cy="292608"/>
          </a:xfrm>
          <a:prstGeom prst="roundRect">
            <a:avLst>
              <a:gd name="adj" fmla="val 14000"/>
            </a:avLst>
          </a:prstGeom>
          <a:solidFill>
            <a:srgbClr val="1A2637"/>
          </a:solidFill>
          <a:ln w="12700">
            <a:solidFill>
              <a:srgbClr val="405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77240" y="4139184"/>
            <a:ext cx="36576" cy="292608"/>
          </a:xfrm>
          <a:prstGeom prst="rect">
            <a:avLst/>
          </a:prstGeom>
          <a:solidFill>
            <a:srgbClr val="78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139184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RBAC / ABAC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4139184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A9B4D0"/>
                </a:solidFill>
                <a:latin typeface="Helvetica Neue"/>
              </a:rPr>
              <a:t>Least privilege, tenant isolation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23260" y="4431792"/>
            <a:ext cx="0" cy="45720"/>
          </a:xfrm>
          <a:prstGeom prst="line">
            <a:avLst/>
          </a:prstGeom>
          <a:ln w="9525">
            <a:solidFill>
              <a:srgbClr val="1A23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77240" y="4477512"/>
            <a:ext cx="4892040" cy="292608"/>
          </a:xfrm>
          <a:prstGeom prst="roundRect">
            <a:avLst>
              <a:gd name="adj" fmla="val 14000"/>
            </a:avLst>
          </a:prstGeom>
          <a:solidFill>
            <a:srgbClr val="152839"/>
          </a:solidFill>
          <a:ln w="12700">
            <a:solidFill>
              <a:srgbClr val="315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77240" y="4477512"/>
            <a:ext cx="36576" cy="292608"/>
          </a:xfrm>
          <a:prstGeom prst="rect">
            <a:avLst/>
          </a:prstGeom>
          <a:solidFill>
            <a:srgbClr val="4DB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60120" y="4477512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Application services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4477512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A9B4D0"/>
                </a:solidFill>
                <a:latin typeface="Helvetica Neue"/>
              </a:rPr>
              <a:t>Agents, policy engine, workflow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223260" y="4770120"/>
            <a:ext cx="0" cy="45720"/>
          </a:xfrm>
          <a:prstGeom prst="line">
            <a:avLst/>
          </a:prstGeom>
          <a:ln w="9525">
            <a:solidFill>
              <a:srgbClr val="1A23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77240" y="4815840"/>
            <a:ext cx="4892040" cy="292608"/>
          </a:xfrm>
          <a:prstGeom prst="roundRect">
            <a:avLst>
              <a:gd name="adj" fmla="val 14000"/>
            </a:avLst>
          </a:prstGeom>
          <a:solidFill>
            <a:srgbClr val="102A3C"/>
          </a:solidFill>
          <a:ln w="12700">
            <a:solidFill>
              <a:srgbClr val="2266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77240" y="4815840"/>
            <a:ext cx="36576" cy="2926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60120" y="4815840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Postgres / Object store / Vector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4815840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A9B4D0"/>
                </a:solidFill>
                <a:latin typeface="Helvetica Neue"/>
              </a:rPr>
              <a:t>Encrypted at rest, per-tenant scoping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08192" y="2831592"/>
            <a:ext cx="5306263" cy="1975104"/>
          </a:xfrm>
          <a:prstGeom prst="roundRect">
            <a:avLst>
              <a:gd name="adj" fmla="val 6000"/>
            </a:avLst>
          </a:prstGeom>
          <a:solidFill>
            <a:srgbClr val="201F22"/>
          </a:solidFill>
          <a:ln w="12700">
            <a:solidFill>
              <a:srgbClr val="725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108192" y="2831592"/>
            <a:ext cx="5306263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345936" y="3032760"/>
            <a:ext cx="483077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Resumes are untrusted input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3288792"/>
            <a:ext cx="4830775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 i="0">
                <a:solidFill>
                  <a:srgbClr val="A9B4D0"/>
                </a:solidFill>
                <a:latin typeface="Helvetica Neue"/>
              </a:rPr>
              <a:t>A candidate can put instructions in a resume. Uploaded documents are never allowed to issue commands to an agent.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45936" y="3800856"/>
            <a:ext cx="1145971" cy="292608"/>
          </a:xfrm>
          <a:prstGeom prst="roundRect">
            <a:avLst>
              <a:gd name="adj" fmla="val 18000"/>
            </a:avLst>
          </a:prstGeom>
          <a:solidFill>
            <a:srgbClr val="151927"/>
          </a:solidFill>
          <a:ln w="12700">
            <a:solidFill>
              <a:srgbClr val="404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391656" y="3800856"/>
            <a:ext cx="1054531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850" b="0" i="0">
                <a:solidFill>
                  <a:srgbClr val="A9B4D0"/>
                </a:solidFill>
                <a:latin typeface="Helvetica Neue"/>
              </a:rPr>
              <a:t>Untrusted document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501051" y="3947160"/>
            <a:ext cx="64008" cy="0"/>
          </a:xfrm>
          <a:prstGeom prst="line">
            <a:avLst/>
          </a:prstGeom>
          <a:ln w="9525">
            <a:solidFill>
              <a:srgbClr val="222C4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574203" y="3800856"/>
            <a:ext cx="1145971" cy="292608"/>
          </a:xfrm>
          <a:prstGeom prst="roundRect">
            <a:avLst>
              <a:gd name="adj" fmla="val 18000"/>
            </a:avLst>
          </a:prstGeom>
          <a:solidFill>
            <a:srgbClr val="151927"/>
          </a:solidFill>
          <a:ln w="12700">
            <a:solidFill>
              <a:srgbClr val="404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19923" y="3800856"/>
            <a:ext cx="1054531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850" b="0" i="0">
                <a:solidFill>
                  <a:srgbClr val="A9B4D0"/>
                </a:solidFill>
                <a:latin typeface="Helvetica Neue"/>
              </a:rPr>
              <a:t>Parser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729318" y="3947160"/>
            <a:ext cx="64008" cy="0"/>
          </a:xfrm>
          <a:prstGeom prst="line">
            <a:avLst/>
          </a:prstGeom>
          <a:ln w="9525">
            <a:solidFill>
              <a:srgbClr val="222C4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802470" y="3800856"/>
            <a:ext cx="1145971" cy="292608"/>
          </a:xfrm>
          <a:prstGeom prst="roundRect">
            <a:avLst>
              <a:gd name="adj" fmla="val 18000"/>
            </a:avLst>
          </a:prstGeom>
          <a:solidFill>
            <a:srgbClr val="281E12"/>
          </a:solidFill>
          <a:ln w="12700">
            <a:solidFill>
              <a:srgbClr val="765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848190" y="3800856"/>
            <a:ext cx="1054531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Helvetica Neue"/>
              </a:rPr>
              <a:t>Content boundary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957585" y="3947160"/>
            <a:ext cx="64008" cy="0"/>
          </a:xfrm>
          <a:prstGeom prst="line">
            <a:avLst/>
          </a:prstGeom>
          <a:ln w="9525">
            <a:solidFill>
              <a:srgbClr val="222C4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10030737" y="3800856"/>
            <a:ext cx="1145971" cy="292608"/>
          </a:xfrm>
          <a:prstGeom prst="roundRect">
            <a:avLst>
              <a:gd name="adj" fmla="val 18000"/>
            </a:avLst>
          </a:prstGeom>
          <a:solidFill>
            <a:srgbClr val="151927"/>
          </a:solidFill>
          <a:ln w="12700">
            <a:solidFill>
              <a:srgbClr val="404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0076457" y="3800856"/>
            <a:ext cx="1054531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850" b="0" i="0">
                <a:solidFill>
                  <a:srgbClr val="A9B4D0"/>
                </a:solidFill>
                <a:latin typeface="Helvetica Neue"/>
              </a:rPr>
              <a:t>LLM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6918921" y="4093464"/>
            <a:ext cx="3684801" cy="274320"/>
          </a:xfrm>
          <a:prstGeom prst="line">
            <a:avLst/>
          </a:prstGeom>
          <a:ln w="9525">
            <a:solidFill>
              <a:srgbClr val="222C4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345936" y="4367784"/>
            <a:ext cx="1145971" cy="292608"/>
          </a:xfrm>
          <a:prstGeom prst="roundRect">
            <a:avLst>
              <a:gd name="adj" fmla="val 18000"/>
            </a:avLst>
          </a:prstGeom>
          <a:solidFill>
            <a:srgbClr val="151927"/>
          </a:solidFill>
          <a:ln w="12700">
            <a:solidFill>
              <a:srgbClr val="404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391656" y="4367784"/>
            <a:ext cx="1054531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850" b="0" i="0">
                <a:solidFill>
                  <a:srgbClr val="A9B4D0"/>
                </a:solidFill>
                <a:latin typeface="Helvetica Neue"/>
              </a:rPr>
              <a:t>Output validator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501051" y="4514088"/>
            <a:ext cx="64008" cy="0"/>
          </a:xfrm>
          <a:prstGeom prst="line">
            <a:avLst/>
          </a:prstGeom>
          <a:ln w="9525">
            <a:solidFill>
              <a:srgbClr val="222C4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7574203" y="4367784"/>
            <a:ext cx="1145971" cy="292608"/>
          </a:xfrm>
          <a:prstGeom prst="roundRect">
            <a:avLst>
              <a:gd name="adj" fmla="val 18000"/>
            </a:avLst>
          </a:prstGeom>
          <a:solidFill>
            <a:srgbClr val="151927"/>
          </a:solidFill>
          <a:ln w="12700">
            <a:solidFill>
              <a:srgbClr val="404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619923" y="4367784"/>
            <a:ext cx="1054531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850" b="0" i="0">
                <a:solidFill>
                  <a:srgbClr val="A9B4D0"/>
                </a:solidFill>
                <a:latin typeface="Helvetica Neue"/>
              </a:rPr>
              <a:t>Policy engine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729318" y="4514088"/>
            <a:ext cx="64008" cy="0"/>
          </a:xfrm>
          <a:prstGeom prst="line">
            <a:avLst/>
          </a:prstGeom>
          <a:ln w="9525">
            <a:solidFill>
              <a:srgbClr val="222C4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8802470" y="4367784"/>
            <a:ext cx="1145971" cy="292608"/>
          </a:xfrm>
          <a:prstGeom prst="roundRect">
            <a:avLst>
              <a:gd name="adj" fmla="val 18000"/>
            </a:avLst>
          </a:prstGeom>
          <a:solidFill>
            <a:srgbClr val="0D2626"/>
          </a:solidFill>
          <a:ln w="12700">
            <a:solidFill>
              <a:srgbClr val="296E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848190" y="4367784"/>
            <a:ext cx="1054531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Helvetica Neue"/>
              </a:rPr>
              <a:t>Authorized action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" y="5318760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22D3EE"/>
                </a:solidFill>
                <a:latin typeface="Helvetica Neue"/>
              </a:rPr>
              <a:t>ENTERPRISE CONTROLS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" y="5574792"/>
            <a:ext cx="2467279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173736" indent="-173736">
              <a:lnSpc>
                <a:spcPct val="116000"/>
              </a:lnSpc>
              <a:spcAft>
                <a:spcPts val="25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950">
                <a:solidFill>
                  <a:srgbClr val="A9B4D0"/>
                </a:solidFill>
                <a:latin typeface="Helvetica Neue"/>
              </a:rPr>
              <a:t>Tenant isolation and least privilege</a:t>
            </a:r>
          </a:p>
          <a:p>
            <a:pPr marL="173736" indent="-173736">
              <a:lnSpc>
                <a:spcPct val="116000"/>
              </a:lnSpc>
              <a:spcAft>
                <a:spcPts val="25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950">
                <a:solidFill>
                  <a:srgbClr val="A9B4D0"/>
                </a:solidFill>
                <a:latin typeface="Helvetica Neue"/>
              </a:rPr>
              <a:t>Encryption in transit and at rest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00551" y="5574792"/>
            <a:ext cx="2467279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173736" indent="-173736">
              <a:lnSpc>
                <a:spcPct val="116000"/>
              </a:lnSpc>
              <a:spcAft>
                <a:spcPts val="25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950">
                <a:solidFill>
                  <a:srgbClr val="A9B4D0"/>
                </a:solidFill>
                <a:latin typeface="Helvetica Neue"/>
              </a:rPr>
              <a:t>Configurable retention and deletion</a:t>
            </a:r>
          </a:p>
          <a:p>
            <a:pPr marL="173736" indent="-173736">
              <a:lnSpc>
                <a:spcPct val="116000"/>
              </a:lnSpc>
              <a:spcAft>
                <a:spcPts val="25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950">
                <a:solidFill>
                  <a:srgbClr val="A9B4D0"/>
                </a:solidFill>
                <a:latin typeface="Helvetica Neue"/>
              </a:rPr>
              <a:t>Model and prompt version traceability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23862" y="5574792"/>
            <a:ext cx="2467279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173736" indent="-173736">
              <a:lnSpc>
                <a:spcPct val="116000"/>
              </a:lnSpc>
              <a:spcAft>
                <a:spcPts val="25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950">
                <a:solidFill>
                  <a:srgbClr val="A9B4D0"/>
                </a:solidFill>
                <a:latin typeface="Helvetica Neue"/>
              </a:rPr>
              <a:t>Full audit trail on every material action</a:t>
            </a:r>
          </a:p>
          <a:p>
            <a:pPr marL="173736" indent="-173736">
              <a:lnSpc>
                <a:spcPct val="116000"/>
              </a:lnSpc>
              <a:spcAft>
                <a:spcPts val="25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950">
                <a:solidFill>
                  <a:srgbClr val="A9B4D0"/>
                </a:solidFill>
                <a:latin typeface="Helvetica Neue"/>
              </a:rPr>
              <a:t>PII classification and controlled access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47173" y="5574792"/>
            <a:ext cx="2467279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173736" indent="-173736">
              <a:lnSpc>
                <a:spcPct val="116000"/>
              </a:lnSpc>
              <a:spcAft>
                <a:spcPts val="25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950">
                <a:solidFill>
                  <a:srgbClr val="A9B4D0"/>
                </a:solidFill>
                <a:latin typeface="Helvetica Neue"/>
              </a:rPr>
              <a:t>Secrets and key management</a:t>
            </a:r>
          </a:p>
          <a:p>
            <a:pPr marL="173736" indent="-173736">
              <a:lnSpc>
                <a:spcPct val="116000"/>
              </a:lnSpc>
              <a:spcAft>
                <a:spcPts val="25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950">
                <a:solidFill>
                  <a:srgbClr val="A9B4D0"/>
                </a:solidFill>
                <a:latin typeface="Helvetica Neue"/>
              </a:rPr>
              <a:t>SOC 2 / ISO 27001 pathway as we mature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74520" y="6382512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Blueprint sec.12 and sec.13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777240" y="598932"/>
            <a:ext cx="105156" cy="105156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 spc="140">
                <a:solidFill>
                  <a:srgbClr val="22D3EE"/>
                </a:solidFill>
                <a:latin typeface="Helvetica Neue"/>
              </a:rPr>
              <a:t>REGULATORY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9148004" cy="1004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Recruitment AI is a regulated use case. That is an advantage.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28952"/>
            <a:ext cx="8509772" cy="583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A9B4D0"/>
                </a:solidFill>
                <a:latin typeface="Helvetica Neue"/>
              </a:rPr>
              <a:t>Hiring AI sits in high-risk categories in several jurisdictions. Competitors treat that as a headwind. For a governance-first product it is the reason to buy.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31592"/>
            <a:ext cx="2480995" cy="2746248"/>
          </a:xfrm>
          <a:prstGeom prst="roundRect">
            <a:avLst>
              <a:gd name="adj" fmla="val 55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77240" y="2831592"/>
            <a:ext cx="32004" cy="2746248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14984" y="3032760"/>
            <a:ext cx="2005507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4F6BFF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3288792"/>
            <a:ext cx="2005507" cy="4632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Human oversight by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3834384"/>
            <a:ext cx="2005507" cy="15605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A9B4D0"/>
                </a:solidFill>
                <a:latin typeface="Helvetica Neue"/>
              </a:rPr>
              <a:t>Consequential decisions - shortlist, feedback, final selection, compensation - are structurally gated on a recorded human decision. It is not a setting that can be switched 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5979" y="2831592"/>
            <a:ext cx="2480995" cy="2746248"/>
          </a:xfrm>
          <a:prstGeom prst="roundRect">
            <a:avLst>
              <a:gd name="adj" fmla="val 55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495979" y="2831592"/>
            <a:ext cx="32004" cy="27462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33723" y="3032760"/>
            <a:ext cx="2005507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22D3EE"/>
                </a:solidFill>
                <a:latin typeface="Helvetica Neu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3723" y="3288792"/>
            <a:ext cx="2005507" cy="4632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Explainability and traceability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3723" y="3834384"/>
            <a:ext cx="2005507" cy="15605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A9B4D0"/>
                </a:solidFill>
                <a:latin typeface="Helvetica Neue"/>
              </a:rPr>
              <a:t>Every generated output carries its retrieved sources, model version and prompt version. Every action carries an actor and a timestamp.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4718" y="2831592"/>
            <a:ext cx="2480995" cy="2746248"/>
          </a:xfrm>
          <a:prstGeom prst="roundRect">
            <a:avLst>
              <a:gd name="adj" fmla="val 55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14718" y="2831592"/>
            <a:ext cx="32004" cy="27462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52462" y="3032760"/>
            <a:ext cx="2005507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F59E0B"/>
                </a:solidFill>
                <a:latin typeface="Helvetica Neu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2462" y="3288792"/>
            <a:ext cx="2005507" cy="4632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Fairness testing from day 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2462" y="3834384"/>
            <a:ext cx="2005507" cy="15605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A9B4D0"/>
                </a:solidFill>
                <a:latin typeface="Helvetica Neue"/>
              </a:rPr>
              <a:t>Bias and fairness monitoring on candidate evaluation workflows, with history treated as context rather than as approved policy.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3457" y="2831592"/>
            <a:ext cx="2480995" cy="2746248"/>
          </a:xfrm>
          <a:prstGeom prst="roundRect">
            <a:avLst>
              <a:gd name="adj" fmla="val 55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933457" y="2831592"/>
            <a:ext cx="32004" cy="27462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71201" y="3032760"/>
            <a:ext cx="2005507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34D399"/>
                </a:solidFill>
                <a:latin typeface="Helvetica Neue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201" y="3288792"/>
            <a:ext cx="2005507" cy="2499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Jurisdiction-aware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201" y="3621024"/>
            <a:ext cx="2005507" cy="17739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A9B4D0"/>
                </a:solidFill>
                <a:latin typeface="Helvetica Neue"/>
              </a:rPr>
              <a:t>Designed around India's digital personal-data framework, with jurisdiction-specific legal review before each international deployment.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797296"/>
            <a:ext cx="10637215" cy="514350"/>
          </a:xfrm>
          <a:prstGeom prst="roundRect">
            <a:avLst>
              <a:gd name="adj" fmla="val 10000"/>
            </a:avLst>
          </a:prstGeom>
          <a:solidFill>
            <a:srgbClr val="171E30"/>
          </a:solidFill>
          <a:ln w="12700">
            <a:solidFill>
              <a:srgbClr val="3C48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77240" y="5797296"/>
            <a:ext cx="41148" cy="514350"/>
          </a:xfrm>
          <a:prstGeom prst="rect">
            <a:avLst/>
          </a:prstGeom>
          <a:solidFill>
            <a:srgbClr val="6E7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14984" y="5980176"/>
            <a:ext cx="10216591" cy="1485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900" b="1">
                <a:solidFill>
                  <a:srgbClr val="6E7C9E"/>
                </a:solidFill>
                <a:latin typeface="Helvetica Neue"/>
              </a:rPr>
              <a:t>Note  </a:t>
            </a:r>
            <a:r>
              <a:rPr sz="900">
                <a:solidFill>
                  <a:srgbClr val="A9B4D0"/>
                </a:solidFill>
                <a:latin typeface="Helvetica Neue"/>
              </a:rPr>
              <a:t>Product and technical guidance, not legal advice. Enterprise deployments receive jurisdiction-specific legal and compliance review.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20" y="6382512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Blueprint sec.14, Validation PDF sec.14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ction-decision.pn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90352" cy="6858000"/>
          </a:xfrm>
          <a:prstGeom prst="rect">
            <a:avLst/>
          </a:prstGeom>
          <a:gradFill rotWithShape="1">
            <a:gsLst>
              <a:gs pos="0">
                <a:srgbClr val="070A14">
                  <a:alpha val="95000"/>
                </a:srgbClr>
              </a:gs>
              <a:gs pos="100000">
                <a:srgbClr val="070A14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67712"/>
            <a:ext cx="1828800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600" b="1" i="0">
                <a:solidFill>
                  <a:srgbClr val="2E3F95"/>
                </a:solidFill>
                <a:latin typeface="Helvetica Neue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236976"/>
            <a:ext cx="1554480" cy="41148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4F6B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93008"/>
            <a:ext cx="64008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4000" b="1" i="0" spc="-100">
                <a:solidFill>
                  <a:srgbClr val="FFFFFF"/>
                </a:solidFill>
                <a:latin typeface="Helvetica Neue"/>
              </a:rPr>
              <a:t>The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51376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A9B4D0"/>
                </a:solidFill>
                <a:latin typeface="Helvetica Neue"/>
              </a:rPr>
              <a:t>Wedge, competition, moat, model and the ask.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777240" y="598932"/>
            <a:ext cx="105156" cy="105156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 spc="140">
                <a:solidFill>
                  <a:srgbClr val="22D3EE"/>
                </a:solidFill>
                <a:latin typeface="Helvetica Neue"/>
              </a:rPr>
              <a:t>GO-TO-MARKET WEDGE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9148004" cy="1004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Narrow the first product until it is undeniable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28952"/>
            <a:ext cx="8509772" cy="583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A9B4D0"/>
                </a:solidFill>
                <a:latin typeface="Helvetica Neue"/>
              </a:rPr>
              <a:t>We are not building twelve agents before we have proven one workflow. V1 is the shortest path from a hiring request to a policy-aware, approved shortlist.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159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22D3EE"/>
                </a:solidFill>
                <a:latin typeface="Helvetica Neue"/>
              </a:rPr>
              <a:t>MVP SCOPE</a:t>
            </a:r>
          </a:p>
        </p:txBody>
      </p:sp>
      <p:sp>
        <p:nvSpPr>
          <p:cNvPr id="7" name="Chevron 6"/>
          <p:cNvSpPr/>
          <p:nvPr/>
        </p:nvSpPr>
        <p:spPr>
          <a:xfrm>
            <a:off x="777240" y="3105912"/>
            <a:ext cx="1605817" cy="457200"/>
          </a:xfrm>
          <a:prstGeom prst="chevron">
            <a:avLst/>
          </a:prstGeom>
          <a:solidFill>
            <a:srgbClr val="1B254F"/>
          </a:solidFill>
          <a:ln w="9525">
            <a:solidFill>
              <a:srgbClr val="4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50976" y="3105912"/>
            <a:ext cx="125834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Requisition</a:t>
            </a:r>
          </a:p>
        </p:txBody>
      </p:sp>
      <p:sp>
        <p:nvSpPr>
          <p:cNvPr id="9" name="Chevron 8"/>
          <p:cNvSpPr/>
          <p:nvPr/>
        </p:nvSpPr>
        <p:spPr>
          <a:xfrm>
            <a:off x="2282473" y="3105912"/>
            <a:ext cx="1605817" cy="457200"/>
          </a:xfrm>
          <a:prstGeom prst="chevron">
            <a:avLst/>
          </a:prstGeom>
          <a:solidFill>
            <a:srgbClr val="19284F"/>
          </a:solidFill>
          <a:ln w="9525">
            <a:solidFill>
              <a:srgbClr val="477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456209" y="3105912"/>
            <a:ext cx="125834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JD</a:t>
            </a:r>
          </a:p>
        </p:txBody>
      </p:sp>
      <p:sp>
        <p:nvSpPr>
          <p:cNvPr id="11" name="Chevron 10"/>
          <p:cNvSpPr/>
          <p:nvPr/>
        </p:nvSpPr>
        <p:spPr>
          <a:xfrm>
            <a:off x="3787706" y="3105912"/>
            <a:ext cx="1605817" cy="457200"/>
          </a:xfrm>
          <a:prstGeom prst="chevron">
            <a:avLst/>
          </a:prstGeom>
          <a:solidFill>
            <a:srgbClr val="182C4E"/>
          </a:solidFill>
          <a:ln w="9525">
            <a:solidFill>
              <a:srgbClr val="408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61442" y="3105912"/>
            <a:ext cx="125834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Policy check</a:t>
            </a:r>
          </a:p>
        </p:txBody>
      </p:sp>
      <p:sp>
        <p:nvSpPr>
          <p:cNvPr id="13" name="Chevron 12"/>
          <p:cNvSpPr/>
          <p:nvPr/>
        </p:nvSpPr>
        <p:spPr>
          <a:xfrm>
            <a:off x="5292939" y="3105912"/>
            <a:ext cx="1605817" cy="457200"/>
          </a:xfrm>
          <a:prstGeom prst="chevron">
            <a:avLst/>
          </a:prstGeom>
          <a:solidFill>
            <a:srgbClr val="162F4E"/>
          </a:solidFill>
          <a:ln w="9525">
            <a:solidFill>
              <a:srgbClr val="389F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66675" y="3105912"/>
            <a:ext cx="125834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Approval</a:t>
            </a:r>
          </a:p>
        </p:txBody>
      </p:sp>
      <p:sp>
        <p:nvSpPr>
          <p:cNvPr id="15" name="Chevron 14"/>
          <p:cNvSpPr/>
          <p:nvPr/>
        </p:nvSpPr>
        <p:spPr>
          <a:xfrm>
            <a:off x="6798172" y="3105912"/>
            <a:ext cx="1605817" cy="457200"/>
          </a:xfrm>
          <a:prstGeom prst="chevron">
            <a:avLst/>
          </a:prstGeom>
          <a:solidFill>
            <a:srgbClr val="15334D"/>
          </a:solidFill>
          <a:ln w="9525">
            <a:solidFill>
              <a:srgbClr val="31B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971908" y="3105912"/>
            <a:ext cx="125834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Posting</a:t>
            </a:r>
          </a:p>
        </p:txBody>
      </p:sp>
      <p:sp>
        <p:nvSpPr>
          <p:cNvPr id="17" name="Chevron 16"/>
          <p:cNvSpPr/>
          <p:nvPr/>
        </p:nvSpPr>
        <p:spPr>
          <a:xfrm>
            <a:off x="8303405" y="3105912"/>
            <a:ext cx="1605817" cy="457200"/>
          </a:xfrm>
          <a:prstGeom prst="chevron">
            <a:avLst/>
          </a:prstGeom>
          <a:solidFill>
            <a:srgbClr val="13364C"/>
          </a:solidFill>
          <a:ln w="9525">
            <a:solidFill>
              <a:srgbClr val="29C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77141" y="3105912"/>
            <a:ext cx="125834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Candidate intelligence</a:t>
            </a:r>
          </a:p>
        </p:txBody>
      </p:sp>
      <p:sp>
        <p:nvSpPr>
          <p:cNvPr id="19" name="Chevron 18"/>
          <p:cNvSpPr/>
          <p:nvPr/>
        </p:nvSpPr>
        <p:spPr>
          <a:xfrm>
            <a:off x="9808638" y="3105912"/>
            <a:ext cx="1605817" cy="457200"/>
          </a:xfrm>
          <a:prstGeom prst="chevron">
            <a:avLst/>
          </a:prstGeom>
          <a:solidFill>
            <a:srgbClr val="123A4C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982374" y="3105912"/>
            <a:ext cx="125834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Shortlist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82568"/>
            <a:ext cx="5760720" cy="1792224"/>
          </a:xfrm>
          <a:prstGeom prst="roundRect">
            <a:avLst>
              <a:gd name="adj" fmla="val 5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77240" y="3782568"/>
            <a:ext cx="5760720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14984" y="3965448"/>
            <a:ext cx="528523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In V1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4258056"/>
            <a:ext cx="2532888" cy="1170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173736" indent="-173736">
              <a:lnSpc>
                <a:spcPct val="116000"/>
              </a:lnSpc>
              <a:spcAft>
                <a:spcPts val="35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950">
                <a:solidFill>
                  <a:srgbClr val="A9B4D0"/>
                </a:solidFill>
                <a:latin typeface="Helvetica Neue"/>
              </a:rPr>
              <a:t>Multi-tenant org setup, users and RBAC</a:t>
            </a:r>
          </a:p>
          <a:p>
            <a:pPr marL="173736" indent="-173736">
              <a:lnSpc>
                <a:spcPct val="116000"/>
              </a:lnSpc>
              <a:spcAft>
                <a:spcPts val="35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950">
                <a:solidFill>
                  <a:srgbClr val="A9B4D0"/>
                </a:solidFill>
                <a:latin typeface="Helvetica Neue"/>
              </a:rPr>
              <a:t>Document upload and knowledge ingestion</a:t>
            </a:r>
          </a:p>
          <a:p>
            <a:pPr marL="173736" indent="-173736">
              <a:lnSpc>
                <a:spcPct val="116000"/>
              </a:lnSpc>
              <a:spcAft>
                <a:spcPts val="35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950">
                <a:solidFill>
                  <a:srgbClr val="A9B4D0"/>
                </a:solidFill>
                <a:latin typeface="Helvetica Neue"/>
              </a:rPr>
              <a:t>Hiring requisition intake</a:t>
            </a:r>
          </a:p>
          <a:p>
            <a:pPr marL="173736" indent="-173736">
              <a:lnSpc>
                <a:spcPct val="116000"/>
              </a:lnSpc>
              <a:spcAft>
                <a:spcPts val="35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950">
                <a:solidFill>
                  <a:srgbClr val="A9B4D0"/>
                </a:solidFill>
                <a:latin typeface="Helvetica Neue"/>
              </a:rPr>
              <a:t>JD Agent with grounded retrieval</a:t>
            </a:r>
          </a:p>
          <a:p>
            <a:pPr marL="173736" indent="-173736">
              <a:lnSpc>
                <a:spcPct val="116000"/>
              </a:lnSpc>
              <a:spcAft>
                <a:spcPts val="35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950">
                <a:solidFill>
                  <a:srgbClr val="A9B4D0"/>
                </a:solidFill>
                <a:latin typeface="Helvetica Neue"/>
              </a:rPr>
              <a:t>Deterministic salary and process policy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7328" y="4258056"/>
            <a:ext cx="2532888" cy="1170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173736" indent="-173736">
              <a:lnSpc>
                <a:spcPct val="116000"/>
              </a:lnSpc>
              <a:spcAft>
                <a:spcPts val="35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950">
                <a:solidFill>
                  <a:srgbClr val="A9B4D0"/>
                </a:solidFill>
                <a:latin typeface="Helvetica Neue"/>
              </a:rPr>
              <a:t>Approval and comment workflow</a:t>
            </a:r>
          </a:p>
          <a:p>
            <a:pPr marL="173736" indent="-173736">
              <a:lnSpc>
                <a:spcPct val="116000"/>
              </a:lnSpc>
              <a:spcAft>
                <a:spcPts val="35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950">
                <a:solidFill>
                  <a:srgbClr val="A9B4D0"/>
                </a:solidFill>
                <a:latin typeface="Helvetica Neue"/>
              </a:rPr>
              <a:t>One ATS or job-distribution connector</a:t>
            </a:r>
          </a:p>
          <a:p>
            <a:pPr marL="173736" indent="-173736">
              <a:lnSpc>
                <a:spcPct val="116000"/>
              </a:lnSpc>
              <a:spcAft>
                <a:spcPts val="35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950">
                <a:solidFill>
                  <a:srgbClr val="A9B4D0"/>
                </a:solidFill>
                <a:latin typeface="Helvetica Neue"/>
              </a:rPr>
              <a:t>Resume parsing and evidence extraction</a:t>
            </a:r>
          </a:p>
          <a:p>
            <a:pPr marL="173736" indent="-173736">
              <a:lnSpc>
                <a:spcPct val="116000"/>
              </a:lnSpc>
              <a:spcAft>
                <a:spcPts val="35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950">
                <a:solidFill>
                  <a:srgbClr val="A9B4D0"/>
                </a:solidFill>
                <a:latin typeface="Helvetica Neue"/>
              </a:rPr>
              <a:t>Evidence-based shortlist with human approval</a:t>
            </a:r>
          </a:p>
          <a:p>
            <a:pPr marL="173736" indent="-173736">
              <a:lnSpc>
                <a:spcPct val="116000"/>
              </a:lnSpc>
              <a:spcAft>
                <a:spcPts val="35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950">
                <a:solidFill>
                  <a:srgbClr val="A9B4D0"/>
                </a:solidFill>
                <a:latin typeface="Helvetica Neue"/>
              </a:rPr>
              <a:t>Audit trail and baseline analytics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22008" y="3782568"/>
            <a:ext cx="4492447" cy="1792224"/>
          </a:xfrm>
          <a:prstGeom prst="roundRect">
            <a:avLst>
              <a:gd name="adj" fmla="val 5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922008" y="3782568"/>
            <a:ext cx="4492447" cy="3657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59752" y="3965448"/>
            <a:ext cx="401695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Deliberately not in V1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2" y="4258056"/>
            <a:ext cx="1898751" cy="1170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173736" indent="-173736">
              <a:lnSpc>
                <a:spcPct val="116000"/>
              </a:lnSpc>
              <a:spcAft>
                <a:spcPts val="350"/>
              </a:spcAft>
              <a:buClr>
                <a:srgbClr val="FB7185"/>
              </a:buClr>
              <a:buSzPct val="90000"/>
              <a:buFont typeface="Arial"/>
              <a:buChar char="–"/>
            </a:pPr>
            <a:r>
              <a:rPr sz="950">
                <a:solidFill>
                  <a:srgbClr val="A9B4D0"/>
                </a:solidFill>
                <a:latin typeface="Helvetica Neue"/>
              </a:rPr>
              <a:t>Voice and WhatsApp agents</a:t>
            </a:r>
          </a:p>
          <a:p>
            <a:pPr marL="173736" indent="-173736">
              <a:lnSpc>
                <a:spcPct val="116000"/>
              </a:lnSpc>
              <a:spcAft>
                <a:spcPts val="350"/>
              </a:spcAft>
              <a:buClr>
                <a:srgbClr val="FB7185"/>
              </a:buClr>
              <a:buSzPct val="90000"/>
              <a:buFont typeface="Arial"/>
              <a:buChar char="–"/>
            </a:pPr>
            <a:r>
              <a:rPr sz="950">
                <a:solidFill>
                  <a:srgbClr val="A9B4D0"/>
                </a:solidFill>
                <a:latin typeface="Helvetica Neue"/>
              </a:rPr>
              <a:t>Autonomous candidate rejection</a:t>
            </a:r>
          </a:p>
          <a:p>
            <a:pPr marL="173736" indent="-173736">
              <a:lnSpc>
                <a:spcPct val="116000"/>
              </a:lnSpc>
              <a:spcAft>
                <a:spcPts val="350"/>
              </a:spcAft>
              <a:buClr>
                <a:srgbClr val="FB7185"/>
              </a:buClr>
              <a:buSzPct val="90000"/>
              <a:buFont typeface="Arial"/>
              <a:buChar char="–"/>
            </a:pPr>
            <a:r>
              <a:rPr sz="950">
                <a:solidFill>
                  <a:srgbClr val="A9B4D0"/>
                </a:solidFill>
                <a:latin typeface="Helvetica Neue"/>
              </a:rPr>
              <a:t>Full ATS replacement</a:t>
            </a:r>
          </a:p>
          <a:p>
            <a:pPr marL="173736" indent="-173736">
              <a:lnSpc>
                <a:spcPct val="116000"/>
              </a:lnSpc>
              <a:spcAft>
                <a:spcPts val="350"/>
              </a:spcAft>
              <a:buClr>
                <a:srgbClr val="FB7185"/>
              </a:buClr>
              <a:buSzPct val="90000"/>
              <a:buFont typeface="Arial"/>
              <a:buChar char="–"/>
            </a:pPr>
            <a:r>
              <a:rPr sz="950">
                <a:solidFill>
                  <a:srgbClr val="A9B4D0"/>
                </a:solidFill>
                <a:latin typeface="Helvetica Neue"/>
              </a:rPr>
              <a:t>A custom-trained LLM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77959" y="4258056"/>
            <a:ext cx="1898751" cy="1170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173736" indent="-173736">
              <a:lnSpc>
                <a:spcPct val="116000"/>
              </a:lnSpc>
              <a:spcAft>
                <a:spcPts val="350"/>
              </a:spcAft>
              <a:buClr>
                <a:srgbClr val="FB7185"/>
              </a:buClr>
              <a:buSzPct val="90000"/>
              <a:buFont typeface="Arial"/>
              <a:buChar char="–"/>
            </a:pPr>
            <a:r>
              <a:rPr sz="950">
                <a:solidFill>
                  <a:srgbClr val="A9B4D0"/>
                </a:solidFill>
                <a:latin typeface="Helvetica Neue"/>
              </a:rPr>
              <a:t>Many HRMS integrations</a:t>
            </a:r>
          </a:p>
          <a:p>
            <a:pPr marL="173736" indent="-173736">
              <a:lnSpc>
                <a:spcPct val="116000"/>
              </a:lnSpc>
              <a:spcAft>
                <a:spcPts val="350"/>
              </a:spcAft>
              <a:buClr>
                <a:srgbClr val="FB7185"/>
              </a:buClr>
              <a:buSzPct val="90000"/>
              <a:buFont typeface="Arial"/>
              <a:buChar char="–"/>
            </a:pPr>
            <a:r>
              <a:rPr sz="950">
                <a:solidFill>
                  <a:srgbClr val="A9B4D0"/>
                </a:solidFill>
                <a:latin typeface="Helvetica Neue"/>
              </a:rPr>
              <a:t>Complex finance workflows</a:t>
            </a:r>
          </a:p>
          <a:p>
            <a:pPr marL="173736" indent="-173736">
              <a:lnSpc>
                <a:spcPct val="116000"/>
              </a:lnSpc>
              <a:spcAft>
                <a:spcPts val="350"/>
              </a:spcAft>
              <a:buClr>
                <a:srgbClr val="FB7185"/>
              </a:buClr>
              <a:buSzPct val="90000"/>
              <a:buFont typeface="Arial"/>
              <a:buChar char="–"/>
            </a:pPr>
            <a:r>
              <a:rPr sz="950">
                <a:solidFill>
                  <a:srgbClr val="A9B4D0"/>
                </a:solidFill>
                <a:latin typeface="Helvetica Neue"/>
              </a:rPr>
              <a:t>Full multi-round interview automation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739384"/>
            <a:ext cx="41148" cy="4775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51560" y="5739384"/>
            <a:ext cx="9601200" cy="477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This proves the core claim - a hiring request becomes an approved, policy-aware shortlist - without absorbing the complexity of the full vision.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20" y="6382512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Blueprint sec.17 and sec.25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777240" y="598932"/>
            <a:ext cx="105156" cy="105156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 spc="140">
                <a:solidFill>
                  <a:srgbClr val="22D3EE"/>
                </a:solidFill>
                <a:latin typeface="Helvetica Neue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9148004" cy="529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We are not trying to win the ATS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3972"/>
            <a:ext cx="8509772" cy="583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A9B4D0"/>
                </a:solidFill>
                <a:latin typeface="Helvetica Neue"/>
              </a:rPr>
              <a:t>Crowded market, and we say so. Our position is the layer none of them own: vendor-neutral orchestration plus company-specific policy intelligence.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356612"/>
          <a:ext cx="10637212" cy="33101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09363"/>
                <a:gridCol w="2113805"/>
                <a:gridCol w="1636494"/>
                <a:gridCol w="1636494"/>
                <a:gridCol w="1841056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Capability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HireOS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2F45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Ashby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Eightfold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Traditional ATS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33"/>
                    </a:solidFill>
                  </a:tcPr>
                </a:tc>
              </a:tr>
              <a:tr h="32715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ATS replacement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Varies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0E1424"/>
                    </a:solidFill>
                  </a:tcPr>
                </a:tc>
              </a:tr>
              <a:tr h="32715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AI agents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Core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A26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Increasing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33"/>
                    </a:solidFill>
                  </a:tcPr>
                </a:tc>
              </a:tr>
              <a:tr h="32715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Company policy engine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Core differentiator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Partial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Partial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Varies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0E1424"/>
                    </a:solidFill>
                  </a:tcPr>
                </a:tc>
              </a:tr>
              <a:tr h="32715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Cross-system orchestration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Core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A26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Strong ecosystem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Strong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Varies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33"/>
                    </a:solidFill>
                  </a:tcPr>
                </a:tc>
              </a:tr>
              <a:tr h="32715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Candidate intelligence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Core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Strong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Core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Basic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0E1424"/>
                    </a:solidFill>
                  </a:tcPr>
                </a:tc>
              </a:tr>
              <a:tr h="32715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Scheduling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V2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A26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Strong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Strong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Varies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33"/>
                    </a:solidFill>
                  </a:tcPr>
                </a:tc>
              </a:tr>
              <a:tr h="32715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Interview intelligence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V3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Strong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Strong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Increasing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0E1424"/>
                    </a:solidFill>
                  </a:tcPr>
                </a:tc>
              </a:tr>
              <a:tr h="32715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Vendor-neutral layer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Core strategy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A26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Less central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Less central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N/A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33"/>
                    </a:solidFill>
                  </a:tcPr>
                </a:tc>
              </a:tr>
              <a:tr h="32715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Governance and audit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Core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151E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Strong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Strong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4D0"/>
                          </a:solidFill>
                          <a:latin typeface="Helvetica Neue"/>
                        </a:rPr>
                        <a:t>Strong</a:t>
                      </a: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222C47"/>
                      </a:solidFill>
                    </a:lnL>
                    <a:lnR w="9525" cap="flat" cmpd="sng" algn="ctr">
                      <a:solidFill>
                        <a:srgbClr val="222C47"/>
                      </a:solidFill>
                    </a:lnR>
                    <a:lnT w="9525" cap="flat" cmpd="sng" algn="ctr">
                      <a:solidFill>
                        <a:srgbClr val="222C47"/>
                      </a:solidFill>
                    </a:lnT>
                    <a:lnB w="9525" cap="flat" cmpd="sng" algn="ctr">
                      <a:solidFill>
                        <a:srgbClr val="222C47"/>
                      </a:solidFill>
                    </a:lnB>
                    <a:solidFill>
                      <a:srgbClr val="0E1424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5867908"/>
            <a:ext cx="41148" cy="4775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5867908"/>
            <a:ext cx="9601200" cy="477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The existence of these products validates the demand. It also means 'AI recruiting' is not a differentiator - the policy and governance layer 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6382512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Blueprint sec.15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777240" y="598932"/>
            <a:ext cx="105156" cy="105156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 spc="140">
                <a:solidFill>
                  <a:srgbClr val="22D3EE"/>
                </a:solidFill>
                <a:latin typeface="Helvetica Neue"/>
              </a:rPr>
              <a:t>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9148004" cy="529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The moat is not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3972"/>
            <a:ext cx="8509772" cy="319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A9B4D0"/>
                </a:solidFill>
                <a:latin typeface="Helvetica Neue"/>
              </a:rPr>
              <a:t>Anyone can call the same API we call. What compounds is everything wrapped around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92452"/>
            <a:ext cx="10637215" cy="484632"/>
          </a:xfrm>
          <a:prstGeom prst="roundRect">
            <a:avLst>
              <a:gd name="adj" fmla="val 10000"/>
            </a:avLst>
          </a:prstGeom>
          <a:solidFill>
            <a:srgbClr val="0E1424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77240" y="2092452"/>
            <a:ext cx="36576" cy="484632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78408" y="2092452"/>
            <a:ext cx="329184" cy="4846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 i="0">
                <a:solidFill>
                  <a:srgbClr val="4F6BFF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092452"/>
            <a:ext cx="3246120" cy="4846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Company-specific hiring 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2092452"/>
            <a:ext cx="6467552" cy="4846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A9B4D0"/>
                </a:solidFill>
                <a:latin typeface="Helvetica Neue"/>
              </a:rPr>
              <a:t>Every ingested policy, template and competency framework makes the next output more theirs and harder to reproduce elsewhere.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41092"/>
            <a:ext cx="10637215" cy="484632"/>
          </a:xfrm>
          <a:prstGeom prst="roundRect">
            <a:avLst>
              <a:gd name="adj" fmla="val 10000"/>
            </a:avLst>
          </a:prstGeom>
          <a:solidFill>
            <a:srgbClr val="151E33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77240" y="2641092"/>
            <a:ext cx="36576" cy="484632"/>
          </a:xfrm>
          <a:prstGeom prst="rect">
            <a:avLst/>
          </a:prstGeom>
          <a:solidFill>
            <a:srgbClr val="467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78408" y="2641092"/>
            <a:ext cx="329184" cy="4846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 i="0">
                <a:solidFill>
                  <a:srgbClr val="467FFB"/>
                </a:solidFill>
                <a:latin typeface="Helvetica Neu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641092"/>
            <a:ext cx="3246120" cy="4846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Policy engine embedded in the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641092"/>
            <a:ext cx="6467552" cy="4846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A9B4D0"/>
                </a:solidFill>
                <a:latin typeface="Helvetica Neue"/>
              </a:rPr>
              <a:t>Once approval hierarchy and salary governance run through us, we are load-bearing infrastructure rather than a tool.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189732"/>
            <a:ext cx="10637215" cy="484632"/>
          </a:xfrm>
          <a:prstGeom prst="roundRect">
            <a:avLst>
              <a:gd name="adj" fmla="val 10000"/>
            </a:avLst>
          </a:prstGeom>
          <a:solidFill>
            <a:srgbClr val="0E1424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77240" y="3189732"/>
            <a:ext cx="36576" cy="484632"/>
          </a:xfrm>
          <a:prstGeom prst="rect">
            <a:avLst/>
          </a:prstGeom>
          <a:solidFill>
            <a:srgbClr val="3D9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78408" y="3189732"/>
            <a:ext cx="329184" cy="4846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 i="0">
                <a:solidFill>
                  <a:srgbClr val="3D94F8"/>
                </a:solidFill>
                <a:latin typeface="Helvetica Neu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189732"/>
            <a:ext cx="3246120" cy="4846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Deep vendor-neutral integrations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5736" y="3189732"/>
            <a:ext cx="6467552" cy="4846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A9B4D0"/>
                </a:solidFill>
                <a:latin typeface="Helvetica Neue"/>
              </a:rPr>
              <a:t>Each connector is real engineering and real enterprise trust. The set compounds into switching cost.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38372"/>
            <a:ext cx="10637215" cy="484632"/>
          </a:xfrm>
          <a:prstGeom prst="roundRect">
            <a:avLst>
              <a:gd name="adj" fmla="val 10000"/>
            </a:avLst>
          </a:prstGeom>
          <a:solidFill>
            <a:srgbClr val="151E33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77240" y="3738372"/>
            <a:ext cx="36576" cy="484632"/>
          </a:xfrm>
          <a:prstGeom prst="rect">
            <a:avLst/>
          </a:prstGeom>
          <a:solidFill>
            <a:srgbClr val="34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78408" y="3738372"/>
            <a:ext cx="329184" cy="4846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 i="0">
                <a:solidFill>
                  <a:srgbClr val="34A9F4"/>
                </a:solidFill>
                <a:latin typeface="Helvetica Neue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3738372"/>
            <a:ext cx="3246120" cy="4846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Structured hiring evidence and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45736" y="3738372"/>
            <a:ext cx="6467552" cy="4846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A9B4D0"/>
                </a:solidFill>
                <a:latin typeface="Helvetica Neue"/>
              </a:rPr>
              <a:t>Role to competency to interview to outcome, captured as structured data almost nobody else holds in that shape.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287012"/>
            <a:ext cx="10637215" cy="484632"/>
          </a:xfrm>
          <a:prstGeom prst="roundRect">
            <a:avLst>
              <a:gd name="adj" fmla="val 10000"/>
            </a:avLst>
          </a:prstGeom>
          <a:solidFill>
            <a:srgbClr val="0E1424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77240" y="4287012"/>
            <a:ext cx="36576" cy="484632"/>
          </a:xfrm>
          <a:prstGeom prst="rect">
            <a:avLst/>
          </a:prstGeom>
          <a:solidFill>
            <a:srgbClr val="2BB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78408" y="4287012"/>
            <a:ext cx="329184" cy="4846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 i="0">
                <a:solidFill>
                  <a:srgbClr val="2BBEF1"/>
                </a:solidFill>
                <a:latin typeface="Helvetica Neue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4168" y="4287012"/>
            <a:ext cx="3246120" cy="4846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Governance, auditability and oversight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45736" y="4287012"/>
            <a:ext cx="6467552" cy="4846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A9B4D0"/>
                </a:solidFill>
                <a:latin typeface="Helvetica Neue"/>
              </a:rPr>
              <a:t>The artifact enterprise procurement and legal actually sign off 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835652"/>
            <a:ext cx="10637215" cy="484632"/>
          </a:xfrm>
          <a:prstGeom prst="roundRect">
            <a:avLst>
              <a:gd name="adj" fmla="val 10000"/>
            </a:avLst>
          </a:prstGeom>
          <a:solidFill>
            <a:srgbClr val="151E33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77240" y="4835652"/>
            <a:ext cx="36576" cy="4846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78408" y="4835652"/>
            <a:ext cx="329184" cy="4846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 i="0">
                <a:solidFill>
                  <a:srgbClr val="22D3EE"/>
                </a:solidFill>
                <a:latin typeface="Helvetica Neue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44168" y="4835652"/>
            <a:ext cx="3246120" cy="4846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Autonomy migration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5736" y="4835652"/>
            <a:ext cx="6467552" cy="4846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A9B4D0"/>
                </a:solidFill>
                <a:latin typeface="Helvetica Neue"/>
              </a:rPr>
              <a:t>Override data earns the right to move a customer from Copilot to Assisted to Autopilot, which competitors cannot shortcut.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530596"/>
            <a:ext cx="41148" cy="2661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51560" y="5530596"/>
            <a:ext cx="9601200" cy="266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A generic LLM wrapper is not a durable moat. Enterprise workflow, policy, integration and governance are.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20" y="6382512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Blueprint sec.21, Validation PDF sec.20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777240" y="598932"/>
            <a:ext cx="105156" cy="105156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 spc="140">
                <a:solidFill>
                  <a:srgbClr val="22D3EE"/>
                </a:solidFill>
                <a:latin typeface="Helvetica Neue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9148004" cy="529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Value-based enterprise pricing, not per-seat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3972"/>
            <a:ext cx="8509772" cy="583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A9B4D0"/>
                </a:solidFill>
                <a:latin typeface="Helvetica Neue"/>
              </a:rPr>
              <a:t>Our value is workflow automation and orchestration, so we do not price per resume or per recruiter seat.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56612"/>
            <a:ext cx="2494711" cy="2615184"/>
          </a:xfrm>
          <a:prstGeom prst="roundRect">
            <a:avLst>
              <a:gd name="adj" fmla="val 5000"/>
            </a:avLst>
          </a:prstGeom>
          <a:solidFill>
            <a:srgbClr val="102A3C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77240" y="2356612"/>
            <a:ext cx="2494711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014984" y="2576068"/>
            <a:ext cx="1280033" cy="237744"/>
          </a:xfrm>
          <a:prstGeom prst="roundRect">
            <a:avLst>
              <a:gd name="adj" fmla="val 28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14984" y="2576068"/>
            <a:ext cx="1280033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00" b="1" i="0">
                <a:solidFill>
                  <a:srgbClr val="070A14"/>
                </a:solidFill>
                <a:latin typeface="Helvetica Neue"/>
              </a:rPr>
              <a:t>OUR LAND MOTION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886964"/>
            <a:ext cx="2019223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Paid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197860"/>
            <a:ext cx="2019223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00" b="1" i="0" spc="-50">
                <a:solidFill>
                  <a:srgbClr val="22D3EE"/>
                </a:solidFill>
                <a:latin typeface="Helvetica Neue"/>
              </a:rPr>
              <a:t>INR 5-10 lakh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3563620"/>
            <a:ext cx="2019223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10">
                <a:solidFill>
                  <a:srgbClr val="6E7C9E"/>
                </a:solidFill>
                <a:latin typeface="Helvetica Neue"/>
              </a:rPr>
              <a:t>8-12 WEEKS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4984" y="3837940"/>
            <a:ext cx="2019223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14984" y="3965956"/>
            <a:ext cx="2019223" cy="859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173736" indent="-173736">
              <a:lnSpc>
                <a:spcPct val="120000"/>
              </a:lnSpc>
              <a:spcAft>
                <a:spcPts val="40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1000">
                <a:solidFill>
                  <a:srgbClr val="A9B4D0"/>
                </a:solidFill>
                <a:latin typeface="Helvetica Neue"/>
              </a:rPr>
              <a:t>One business unit</a:t>
            </a:r>
          </a:p>
          <a:p>
            <a:pPr marL="173736" indent="-173736">
              <a:lnSpc>
                <a:spcPct val="120000"/>
              </a:lnSpc>
              <a:spcAft>
                <a:spcPts val="40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1000">
                <a:solidFill>
                  <a:srgbClr val="A9B4D0"/>
                </a:solidFill>
                <a:latin typeface="Helvetica Neue"/>
              </a:rPr>
              <a:t>Limited integrations</a:t>
            </a:r>
          </a:p>
          <a:p>
            <a:pPr marL="173736" indent="-173736">
              <a:lnSpc>
                <a:spcPct val="120000"/>
              </a:lnSpc>
              <a:spcAft>
                <a:spcPts val="400"/>
              </a:spcAft>
              <a:buClr>
                <a:srgbClr val="22D3EE"/>
              </a:buClr>
              <a:buSzPct val="90000"/>
              <a:buFont typeface="Arial"/>
              <a:buChar char="•"/>
            </a:pPr>
            <a:r>
              <a:rPr sz="1000">
                <a:solidFill>
                  <a:srgbClr val="A9B4D0"/>
                </a:solidFill>
                <a:latin typeface="Helvetica Neue"/>
              </a:rPr>
              <a:t>Measured ROI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1407" y="2356612"/>
            <a:ext cx="2494711" cy="2615184"/>
          </a:xfrm>
          <a:prstGeom prst="roundRect">
            <a:avLst>
              <a:gd name="adj" fmla="val 5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491407" y="2356612"/>
            <a:ext cx="2494711" cy="41148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9151" y="2886964"/>
            <a:ext cx="2019223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Growth 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9151" y="3197860"/>
            <a:ext cx="2019223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00" b="1" i="0" spc="-50">
                <a:solidFill>
                  <a:srgbClr val="4F6BFF"/>
                </a:solidFill>
                <a:latin typeface="Helvetica Neue"/>
              </a:rPr>
              <a:t>INR 20-40 lakh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9151" y="3563620"/>
            <a:ext cx="2019223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10">
                <a:solidFill>
                  <a:srgbClr val="6E7C9E"/>
                </a:solidFill>
                <a:latin typeface="Helvetica Neue"/>
              </a:rPr>
              <a:t>PER YEAR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29151" y="3837940"/>
            <a:ext cx="2019223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729151" y="3965956"/>
            <a:ext cx="2019223" cy="859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173736" indent="-173736">
              <a:lnSpc>
                <a:spcPct val="120000"/>
              </a:lnSpc>
              <a:spcAft>
                <a:spcPts val="40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1000">
                <a:solidFill>
                  <a:srgbClr val="A9B4D0"/>
                </a:solidFill>
                <a:latin typeface="Helvetica Neue"/>
              </a:rPr>
              <a:t>Core platform</a:t>
            </a:r>
          </a:p>
          <a:p>
            <a:pPr marL="173736" indent="-173736">
              <a:lnSpc>
                <a:spcPct val="120000"/>
              </a:lnSpc>
              <a:spcAft>
                <a:spcPts val="40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1000">
                <a:solidFill>
                  <a:srgbClr val="A9B4D0"/>
                </a:solidFill>
                <a:latin typeface="Helvetica Neue"/>
              </a:rPr>
              <a:t>Multiple teams</a:t>
            </a:r>
          </a:p>
          <a:p>
            <a:pPr marL="173736" indent="-173736">
              <a:lnSpc>
                <a:spcPct val="120000"/>
              </a:lnSpc>
              <a:spcAft>
                <a:spcPts val="40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1000">
                <a:solidFill>
                  <a:srgbClr val="A9B4D0"/>
                </a:solidFill>
                <a:latin typeface="Helvetica Neue"/>
              </a:rPr>
              <a:t>AI usage allowance</a:t>
            </a:r>
          </a:p>
          <a:p>
            <a:pPr marL="173736" indent="-173736">
              <a:lnSpc>
                <a:spcPct val="120000"/>
              </a:lnSpc>
              <a:spcAft>
                <a:spcPts val="40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1000">
                <a:solidFill>
                  <a:srgbClr val="A9B4D0"/>
                </a:solidFill>
                <a:latin typeface="Helvetica Neue"/>
              </a:rPr>
              <a:t>Integrations and governance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5574" y="2356612"/>
            <a:ext cx="2494711" cy="2615184"/>
          </a:xfrm>
          <a:prstGeom prst="roundRect">
            <a:avLst>
              <a:gd name="adj" fmla="val 5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05574" y="2356612"/>
            <a:ext cx="2494711" cy="41148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3318" y="2886964"/>
            <a:ext cx="2019223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Enterprise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3318" y="3197860"/>
            <a:ext cx="2019223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1" i="0" spc="-50">
                <a:solidFill>
                  <a:srgbClr val="4F6BFF"/>
                </a:solidFill>
                <a:latin typeface="Helvetica Neue"/>
              </a:rPr>
              <a:t>INR 50L - 1.5Cr+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3318" y="3563620"/>
            <a:ext cx="2019223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10">
                <a:solidFill>
                  <a:srgbClr val="6E7C9E"/>
                </a:solidFill>
                <a:latin typeface="Helvetica Neue"/>
              </a:rPr>
              <a:t>PER YEAR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3318" y="3837940"/>
            <a:ext cx="2019223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3318" y="3965956"/>
            <a:ext cx="2019223" cy="859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173736" indent="-173736">
              <a:lnSpc>
                <a:spcPct val="120000"/>
              </a:lnSpc>
              <a:spcAft>
                <a:spcPts val="40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1000">
                <a:solidFill>
                  <a:srgbClr val="A9B4D0"/>
                </a:solidFill>
                <a:latin typeface="Helvetica Neue"/>
              </a:rPr>
              <a:t>Higher volume</a:t>
            </a:r>
          </a:p>
          <a:p>
            <a:pPr marL="173736" indent="-173736">
              <a:lnSpc>
                <a:spcPct val="120000"/>
              </a:lnSpc>
              <a:spcAft>
                <a:spcPts val="40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1000">
                <a:solidFill>
                  <a:srgbClr val="A9B4D0"/>
                </a:solidFill>
                <a:latin typeface="Helvetica Neue"/>
              </a:rPr>
              <a:t>Enterprise integrations</a:t>
            </a:r>
          </a:p>
          <a:p>
            <a:pPr marL="173736" indent="-173736">
              <a:lnSpc>
                <a:spcPct val="120000"/>
              </a:lnSpc>
              <a:spcAft>
                <a:spcPts val="40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1000">
                <a:solidFill>
                  <a:srgbClr val="A9B4D0"/>
                </a:solidFill>
                <a:latin typeface="Helvetica Neue"/>
              </a:rPr>
              <a:t>SLA</a:t>
            </a:r>
          </a:p>
          <a:p>
            <a:pPr marL="173736" indent="-173736">
              <a:lnSpc>
                <a:spcPct val="120000"/>
              </a:lnSpc>
              <a:spcAft>
                <a:spcPts val="40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1000">
                <a:solidFill>
                  <a:srgbClr val="A9B4D0"/>
                </a:solidFill>
                <a:latin typeface="Helvetica Neue"/>
              </a:rPr>
              <a:t>Security and support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9741" y="2356612"/>
            <a:ext cx="2494711" cy="2615184"/>
          </a:xfrm>
          <a:prstGeom prst="roundRect">
            <a:avLst>
              <a:gd name="adj" fmla="val 5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919741" y="2356612"/>
            <a:ext cx="2494711" cy="41148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57485" y="2886964"/>
            <a:ext cx="2019223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Private / Dedicated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7485" y="3197860"/>
            <a:ext cx="2019223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00" b="1" i="0" spc="-50">
                <a:solidFill>
                  <a:srgbClr val="4F6BFF"/>
                </a:solidFill>
                <a:latin typeface="Helvetica Neue"/>
              </a:rPr>
              <a:t>Custom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7485" y="3563620"/>
            <a:ext cx="2019223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10">
                <a:solidFill>
                  <a:srgbClr val="6E7C9E"/>
                </a:solidFill>
                <a:latin typeface="Helvetica Neue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9157485" y="3837940"/>
            <a:ext cx="2019223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157485" y="3965956"/>
            <a:ext cx="2019223" cy="859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173736" indent="-173736">
              <a:lnSpc>
                <a:spcPct val="120000"/>
              </a:lnSpc>
              <a:spcAft>
                <a:spcPts val="40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1000">
                <a:solidFill>
                  <a:srgbClr val="A9B4D0"/>
                </a:solidFill>
                <a:latin typeface="Helvetica Neue"/>
              </a:rPr>
              <a:t>Dedicated environment</a:t>
            </a:r>
          </a:p>
          <a:p>
            <a:pPr marL="173736" indent="-173736">
              <a:lnSpc>
                <a:spcPct val="120000"/>
              </a:lnSpc>
              <a:spcAft>
                <a:spcPts val="40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1000">
                <a:solidFill>
                  <a:srgbClr val="A9B4D0"/>
                </a:solidFill>
                <a:latin typeface="Helvetica Neue"/>
              </a:rPr>
              <a:t>Private cloud or VPC</a:t>
            </a:r>
          </a:p>
          <a:p>
            <a:pPr marL="173736" indent="-173736">
              <a:lnSpc>
                <a:spcPct val="120000"/>
              </a:lnSpc>
              <a:spcAft>
                <a:spcPts val="40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1000">
                <a:solidFill>
                  <a:srgbClr val="A9B4D0"/>
                </a:solidFill>
                <a:latin typeface="Helvetica Neue"/>
              </a:rPr>
              <a:t>Custom controls</a:t>
            </a:r>
          </a:p>
          <a:p>
            <a:pPr marL="173736" indent="-173736">
              <a:lnSpc>
                <a:spcPct val="120000"/>
              </a:lnSpc>
              <a:spcAft>
                <a:spcPts val="400"/>
              </a:spcAft>
              <a:buClr>
                <a:srgbClr val="4F6BFF"/>
              </a:buClr>
              <a:buSzPct val="90000"/>
              <a:buFont typeface="Arial"/>
              <a:buChar char="•"/>
            </a:pPr>
            <a:r>
              <a:rPr sz="1000">
                <a:solidFill>
                  <a:srgbClr val="A9B4D0"/>
                </a:solidFill>
                <a:latin typeface="Helvetica Neue"/>
              </a:rPr>
              <a:t>Enterprise SLA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191252"/>
            <a:ext cx="10637215" cy="728980"/>
          </a:xfrm>
          <a:prstGeom prst="roundRect">
            <a:avLst>
              <a:gd name="adj" fmla="val 10000"/>
            </a:avLst>
          </a:prstGeom>
          <a:solidFill>
            <a:srgbClr val="252121"/>
          </a:solidFill>
          <a:ln w="12700">
            <a:solidFill>
              <a:srgbClr val="6B5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777240" y="5191252"/>
            <a:ext cx="41148" cy="7289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14984" y="5374132"/>
            <a:ext cx="10216591" cy="3632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F59E0B"/>
                </a:solidFill>
                <a:latin typeface="Helvetica Neue"/>
              </a:rPr>
              <a:t>Assumption  </a:t>
            </a:r>
            <a:r>
              <a:rPr sz="1100">
                <a:solidFill>
                  <a:srgbClr val="A9B4D0"/>
                </a:solidFill>
                <a:latin typeface="Helvetica Neue"/>
              </a:rPr>
              <a:t>These are proposed validation bands from our blueprint, not observed market pricing. Final pricing reflects customer ROI, hiring volume, deployment model and integration complexity - and is one of the things the pilot phase exists to test.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4520" y="6382512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Blueprint sec.20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777240" y="598932"/>
            <a:ext cx="105156" cy="105156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 spc="140">
                <a:solidFill>
                  <a:srgbClr val="22D3EE"/>
                </a:solidFill>
                <a:latin typeface="Helvetica Neue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9148004" cy="529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Sized bottom-up from our own price bands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3972"/>
            <a:ext cx="8509772" cy="583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A9B4D0"/>
                </a:solidFill>
                <a:latin typeface="Helvetica Neue"/>
              </a:rPr>
              <a:t>We are not quoting an analyst's HR-tech TAM. Here is the arithmetic from our pricing, with every input stated so you can disagree with it precisely.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56612"/>
            <a:ext cx="5074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F59E0B"/>
                </a:solidFill>
                <a:latin typeface="Helvetica Neue"/>
              </a:rPr>
              <a:t>INPUTS (OUR ESTIMATES, UNDER VALIDATION)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49220"/>
            <a:ext cx="5074920" cy="402336"/>
          </a:xfrm>
          <a:prstGeom prst="rect">
            <a:avLst/>
          </a:prstGeom>
          <a:solidFill>
            <a:srgbClr val="0E1424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41832" y="264922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E7C9E"/>
                </a:solidFill>
                <a:latin typeface="Helvetica Neue"/>
              </a:rPr>
              <a:t>Target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6936" y="2649220"/>
            <a:ext cx="2770632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Enterprise, 1,000+ employees, continuous hiring, existing 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051556"/>
            <a:ext cx="5074920" cy="402336"/>
          </a:xfrm>
          <a:prstGeom prst="rect">
            <a:avLst/>
          </a:prstGeom>
          <a:solidFill>
            <a:srgbClr val="151E33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41832" y="3051556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E7C9E"/>
                </a:solidFill>
                <a:latin typeface="Helvetica Neue"/>
              </a:rPr>
              <a:t>India 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6936" y="3051556"/>
            <a:ext cx="2770632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~9,000 such enterprises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53892"/>
            <a:ext cx="5074920" cy="402336"/>
          </a:xfrm>
          <a:prstGeom prst="rect">
            <a:avLst/>
          </a:prstGeom>
          <a:solidFill>
            <a:srgbClr val="0E1424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41832" y="3453892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E7C9E"/>
                </a:solidFill>
                <a:latin typeface="Helvetica Neue"/>
              </a:rPr>
              <a:t>Global English-first accounts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6936" y="3453892"/>
            <a:ext cx="2770632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~65,000 such enterprises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856228"/>
            <a:ext cx="5074920" cy="402336"/>
          </a:xfrm>
          <a:prstGeom prst="rect">
            <a:avLst/>
          </a:prstGeom>
          <a:solidFill>
            <a:srgbClr val="151E33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41832" y="385622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E7C9E"/>
                </a:solidFill>
                <a:latin typeface="Helvetica Neue"/>
              </a:rPr>
              <a:t>Blended ACV at Growth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6936" y="3856228"/>
            <a:ext cx="2770632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INR 30 lakh (~$36K)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258564"/>
            <a:ext cx="5074920" cy="402336"/>
          </a:xfrm>
          <a:prstGeom prst="rect">
            <a:avLst/>
          </a:prstGeom>
          <a:solidFill>
            <a:srgbClr val="0E1424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41832" y="4258564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E7C9E"/>
                </a:solidFill>
                <a:latin typeface="Helvetica Neue"/>
              </a:rPr>
              <a:t>Blended ACV, global 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6936" y="4258564"/>
            <a:ext cx="2770632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~$60K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356612"/>
            <a:ext cx="5123383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22D3EE"/>
                </a:solidFill>
                <a:latin typeface="Helvetica Neue"/>
              </a:rPr>
              <a:t>BOTTOM-UP ARITHMETIC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2649220"/>
            <a:ext cx="5123383" cy="658368"/>
          </a:xfrm>
          <a:prstGeom prst="roundRect">
            <a:avLst>
              <a:gd name="adj" fmla="val 6000"/>
            </a:avLst>
          </a:prstGeom>
          <a:solidFill>
            <a:srgbClr val="141C39"/>
          </a:solidFill>
          <a:ln w="12700">
            <a:solidFill>
              <a:srgbClr val="3142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291072" y="2649220"/>
            <a:ext cx="36576" cy="658368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92240" y="27406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10">
                <a:solidFill>
                  <a:srgbClr val="6E7C9E"/>
                </a:solidFill>
                <a:latin typeface="Helvetica Neue"/>
              </a:rPr>
              <a:t>INDIA SERVICEABLE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941828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1" i="0" spc="-60">
                <a:solidFill>
                  <a:srgbClr val="4F6BFF"/>
                </a:solidFill>
                <a:latin typeface="Helvetica Neue"/>
              </a:rPr>
              <a:t>~INR 2,700 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2649220"/>
            <a:ext cx="2243023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9,000 accounts x INR 30L ACV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3417316"/>
            <a:ext cx="5123383" cy="658368"/>
          </a:xfrm>
          <a:prstGeom prst="roundRect">
            <a:avLst>
              <a:gd name="adj" fmla="val 6000"/>
            </a:avLst>
          </a:prstGeom>
          <a:solidFill>
            <a:srgbClr val="102738"/>
          </a:solidFill>
          <a:ln w="12700">
            <a:solidFill>
              <a:srgbClr val="2266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291072" y="3417316"/>
            <a:ext cx="36576" cy="65836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92240" y="350875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10">
                <a:solidFill>
                  <a:srgbClr val="6E7C9E"/>
                </a:solidFill>
                <a:latin typeface="Helvetica Neue"/>
              </a:rPr>
              <a:t>GLOBAL REACHABLE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709924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1" i="0" spc="-60">
                <a:solidFill>
                  <a:srgbClr val="22D3EE"/>
                </a:solidFill>
                <a:latin typeface="Helvetica Neue"/>
              </a:rPr>
              <a:t>~$3.9B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8552" y="3417316"/>
            <a:ext cx="2243023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65,000 accounts x $60K ACV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91072" y="4185412"/>
            <a:ext cx="5123383" cy="658368"/>
          </a:xfrm>
          <a:prstGeom prst="roundRect">
            <a:avLst>
              <a:gd name="adj" fmla="val 6000"/>
            </a:avLst>
          </a:prstGeom>
          <a:solidFill>
            <a:srgbClr val="11272F"/>
          </a:solidFill>
          <a:ln w="12700">
            <a:solidFill>
              <a:srgbClr val="286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291072" y="4185412"/>
            <a:ext cx="36576" cy="6583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92240" y="427685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10">
                <a:solidFill>
                  <a:srgbClr val="6E7C9E"/>
                </a:solidFill>
                <a:latin typeface="Helvetica Neue"/>
              </a:rPr>
              <a:t>OUR YEAR-3 TARGET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478020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1" i="0" spc="-60">
                <a:solidFill>
                  <a:srgbClr val="34D399"/>
                </a:solidFill>
                <a:latin typeface="Helvetica Neue"/>
              </a:rPr>
              <a:t>~INR 14 Cr ARR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8552" y="4185412"/>
            <a:ext cx="2243023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40 enterprise accounts x INR 35L blended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5063236"/>
            <a:ext cx="41148" cy="4775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51560" y="5063236"/>
            <a:ext cx="9601200" cy="477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We need roughly 40 enterprise accounts to build a serious company. That is a sales problem we can plan, not a market-size problem.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687060"/>
            <a:ext cx="10637215" cy="514350"/>
          </a:xfrm>
          <a:prstGeom prst="roundRect">
            <a:avLst>
              <a:gd name="adj" fmla="val 10000"/>
            </a:avLst>
          </a:prstGeom>
          <a:solidFill>
            <a:srgbClr val="171E30"/>
          </a:solidFill>
          <a:ln w="12700">
            <a:solidFill>
              <a:srgbClr val="3C48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77240" y="5687060"/>
            <a:ext cx="41148" cy="514350"/>
          </a:xfrm>
          <a:prstGeom prst="rect">
            <a:avLst/>
          </a:prstGeom>
          <a:solidFill>
            <a:srgbClr val="6E7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014984" y="5869940"/>
            <a:ext cx="10216591" cy="1485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900" b="1">
                <a:solidFill>
                  <a:srgbClr val="6E7C9E"/>
                </a:solidFill>
                <a:latin typeface="Helvetica Neue"/>
              </a:rPr>
              <a:t>Caveat  </a:t>
            </a:r>
            <a:r>
              <a:rPr sz="900">
                <a:solidFill>
                  <a:srgbClr val="A9B4D0"/>
                </a:solidFill>
                <a:latin typeface="Helvetica Neue"/>
              </a:rPr>
              <a:t>No third-party market report is being cited on this slide. Account counts and ACV are our own estimates, and refining them is part of the discovery work this raise funds.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74520" y="6382512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Derived from Blueprint sec.20 - not present in source PDFs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777240" y="598932"/>
            <a:ext cx="105156" cy="105156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 spc="140">
                <a:solidFill>
                  <a:srgbClr val="22D3EE"/>
                </a:solidFill>
                <a:latin typeface="Helvetica Neue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9148004" cy="1004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Pre-product, pre-revenue - and disciplined about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28952"/>
            <a:ext cx="8509772" cy="583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A9B4D0"/>
                </a:solidFill>
                <a:latin typeface="Helvetica Neue"/>
              </a:rPr>
              <a:t>We have a blueprint and a thesis, not a customer base. We would rather show you the plan for earning conviction than manufacture traction we do not have.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1592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FB7185"/>
                </a:solidFill>
                <a:latin typeface="Helvetica Neue"/>
              </a:rPr>
              <a:t>HONEST 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124200"/>
            <a:ext cx="3383280" cy="672846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77240" y="3124200"/>
            <a:ext cx="32004" cy="67284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3224784"/>
            <a:ext cx="30540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10">
                <a:solidFill>
                  <a:srgbClr val="6E7C9E"/>
                </a:solidFill>
                <a:latin typeface="Helvetica Neue"/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89376"/>
            <a:ext cx="3054096" cy="343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Helvetica Neue"/>
              </a:rPr>
              <a:t>Blueprint complete - modules, workflow, schema, agents, APIs, 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70198"/>
            <a:ext cx="3383280" cy="510159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77240" y="3870198"/>
            <a:ext cx="32004" cy="510159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3970782"/>
            <a:ext cx="30540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10">
                <a:solidFill>
                  <a:srgbClr val="6E7C9E"/>
                </a:solidFill>
                <a:latin typeface="Helvetica Neue"/>
              </a:rPr>
              <a:t>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35374"/>
            <a:ext cx="3054096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Helvetica Neue"/>
              </a:rPr>
              <a:t>None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453509"/>
            <a:ext cx="3383280" cy="510159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77240" y="4453509"/>
            <a:ext cx="32004" cy="510159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4554093"/>
            <a:ext cx="30540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10">
                <a:solidFill>
                  <a:srgbClr val="6E7C9E"/>
                </a:solidFill>
                <a:latin typeface="Helvetica Neue"/>
              </a:rPr>
              <a:t>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718685"/>
            <a:ext cx="3054096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Helvetica Neue"/>
              </a:rPr>
              <a:t>None signed. Design-partner pipeline being built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036820"/>
            <a:ext cx="3383280" cy="510159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77240" y="5036820"/>
            <a:ext cx="32004" cy="510159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0120" y="5137404"/>
            <a:ext cx="30540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10">
                <a:solidFill>
                  <a:srgbClr val="6E7C9E"/>
                </a:solidFill>
                <a:latin typeface="Helvetica Neue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301996"/>
            <a:ext cx="3054096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Helvetica Neue"/>
              </a:rPr>
              <a:t>Being assembled against a defined 5-role 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2831592"/>
            <a:ext cx="6815023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22D3EE"/>
                </a:solidFill>
                <a:latin typeface="Helvetica Neue"/>
              </a:rPr>
              <a:t>HOW WE EARN CONVICTION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99432" y="3124200"/>
            <a:ext cx="6815023" cy="475488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4727448" y="3224784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727448" y="32247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11496" y="317906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Interview 10-15 practitioners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5512" y="3124200"/>
            <a:ext cx="3706063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Across recruiting, hiring management, HR operations and HR leadership.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99432" y="3654552"/>
            <a:ext cx="6815023" cy="475488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4727448" y="3755136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727448" y="37551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11496" y="3709416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Make them rank the pain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3654552"/>
            <a:ext cx="3706063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JD creation, screening, scheduling, candidate communication, interview feedback, offer prep, policy compliance, reporting. Ranked, not rated.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99432" y="4184904"/>
            <a:ext cx="6815023" cy="475488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4727448" y="4285488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727448" y="42854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11496" y="423976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Test willingness to pay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184904"/>
            <a:ext cx="3706063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"If we automate the operational hiring workflow while keeping you in control of consequential decisions, what would you pay?"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99432" y="4715256"/>
            <a:ext cx="6815023" cy="475488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4727448" y="4815840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727448" y="48158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11496" y="47701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Build only the strongest wedge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25512" y="4715256"/>
            <a:ext cx="3706063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Commit engineering to the single workflow with the clearest willingness to pay.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99432" y="5245608"/>
            <a:ext cx="6815023" cy="475488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1A2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4727448" y="5346192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727448" y="53461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11496" y="530047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Convert 3 to paid pilots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25512" y="5245608"/>
            <a:ext cx="3706063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Prove measurable hours saved per hire before asking anyone for a seed round.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794248"/>
            <a:ext cx="41148" cy="4775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051560" y="5794248"/>
            <a:ext cx="9601200" cy="477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Do not begin by building twelve agents. Begin by proving one agentic workflow saves measurable time and that enterprises will pay for it.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74520" y="6382512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Blueprint sec.23, Validation PDF sec.25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777240" y="598932"/>
            <a:ext cx="105156" cy="105156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 spc="140">
                <a:solidFill>
                  <a:srgbClr val="22D3EE"/>
                </a:solidFill>
                <a:latin typeface="Helvetica Neue"/>
              </a:rPr>
              <a:t>HOW WE MEASURE OURSELVES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9148004" cy="529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One number above all others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3972"/>
            <a:ext cx="8509772" cy="319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A9B4D0"/>
                </a:solidFill>
                <a:latin typeface="Helvetica Neue"/>
              </a:rPr>
              <a:t>If we cannot move the north star, nothing else on this slide matters.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92452"/>
            <a:ext cx="10637215" cy="1389888"/>
          </a:xfrm>
          <a:prstGeom prst="roundRect">
            <a:avLst>
              <a:gd name="adj" fmla="val 5000"/>
            </a:avLst>
          </a:prstGeom>
          <a:solidFill>
            <a:srgbClr val="102C3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77240" y="2092452"/>
            <a:ext cx="10637215" cy="45720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4F6B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31190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30">
                <a:solidFill>
                  <a:srgbClr val="22D3EE"/>
                </a:solidFill>
                <a:latin typeface="Helvetica Neue"/>
              </a:rPr>
              <a:t>NORTH STAR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567940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 i="0" spc="-90">
                <a:solidFill>
                  <a:srgbClr val="FFFFFF"/>
                </a:solidFill>
                <a:latin typeface="Helvetica Neue"/>
              </a:rPr>
              <a:t>Human hours saved per successful hire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025140"/>
            <a:ext cx="76809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A9B4D0"/>
                </a:solidFill>
                <a:latin typeface="Helvetica Neue"/>
              </a:rPr>
              <a:t>The cleanest measure of operational value - and the number a CFO can price.</a:t>
            </a:r>
          </a:p>
        </p:txBody>
      </p:sp>
      <p:sp>
        <p:nvSpPr>
          <p:cNvPr id="11" name="Diamond 10"/>
          <p:cNvSpPr/>
          <p:nvPr/>
        </p:nvSpPr>
        <p:spPr>
          <a:xfrm>
            <a:off x="10326319" y="2485644"/>
            <a:ext cx="603504" cy="603504"/>
          </a:xfrm>
          <a:prstGeom prst="diamond">
            <a:avLst/>
          </a:prstGeom>
          <a:noFill/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iamond 11"/>
          <p:cNvSpPr/>
          <p:nvPr/>
        </p:nvSpPr>
        <p:spPr>
          <a:xfrm>
            <a:off x="10500055" y="2659380"/>
            <a:ext cx="256032" cy="256032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373837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6E7C9E"/>
                </a:solidFill>
                <a:latin typeface="Helvetica Neue"/>
              </a:rPr>
              <a:t>SUPPORTING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012692"/>
            <a:ext cx="2522143" cy="859536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77240" y="4012692"/>
            <a:ext cx="27432" cy="859536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20" y="4131564"/>
            <a:ext cx="2192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Time-to-hire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533899"/>
            <a:ext cx="2192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The business outcome the buyer is judged 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82263" y="4012692"/>
            <a:ext cx="2522143" cy="859536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482263" y="4012692"/>
            <a:ext cx="27432" cy="8595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665143" y="4131564"/>
            <a:ext cx="2192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JD turnaround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5143" y="4533899"/>
            <a:ext cx="2192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Proves the first workflow automation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7286" y="4012692"/>
            <a:ext cx="2522143" cy="859536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187286" y="4012692"/>
            <a:ext cx="27432" cy="8595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70166" y="4131564"/>
            <a:ext cx="2192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Application to shortlist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0166" y="4533899"/>
            <a:ext cx="2192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Proves candidate intelligence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92309" y="4012692"/>
            <a:ext cx="2522143" cy="859536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892309" y="4012692"/>
            <a:ext cx="27432" cy="8595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75189" y="4131564"/>
            <a:ext cx="2192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Scheduling time saved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5189" y="4533899"/>
            <a:ext cx="2192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Proves coordination automation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981956"/>
            <a:ext cx="2522143" cy="859536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77240" y="4981956"/>
            <a:ext cx="27432" cy="859536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60120" y="5100828"/>
            <a:ext cx="2192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AI acceptance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503163"/>
            <a:ext cx="2192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Proves the output is actually useful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82263" y="4981956"/>
            <a:ext cx="2522143" cy="859536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482263" y="4981956"/>
            <a:ext cx="27432" cy="8595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665143" y="5100828"/>
            <a:ext cx="2192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Human override 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65143" y="5503163"/>
            <a:ext cx="2192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Proves trust and model quality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87286" y="4981956"/>
            <a:ext cx="2522143" cy="859536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187286" y="4981956"/>
            <a:ext cx="27432" cy="8595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370166" y="5100828"/>
            <a:ext cx="2192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Policy exceptions prevented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0166" y="5503163"/>
            <a:ext cx="2192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Proves the governance value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92309" y="4981956"/>
            <a:ext cx="2522143" cy="859536"/>
          </a:xfrm>
          <a:prstGeom prst="roundRect">
            <a:avLst>
              <a:gd name="adj" fmla="val 7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892309" y="4981956"/>
            <a:ext cx="27432" cy="8595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075189" y="5100828"/>
            <a:ext cx="2192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Actions completed automatically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75189" y="5503163"/>
            <a:ext cx="2192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Proves the autonomy ladder is moving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74520" y="6382512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Blueprint sec.22, Validation PDF sec.22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777240" y="598932"/>
            <a:ext cx="105156" cy="105156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 spc="140">
                <a:solidFill>
                  <a:srgbClr val="22D3EE"/>
                </a:solidFill>
                <a:latin typeface="Helvetica Neue"/>
              </a:rPr>
              <a:t>EXECUTION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9148004" cy="1004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90 days to an MVP, 18 months to a seed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28952"/>
            <a:ext cx="8509772" cy="583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A9B4D0"/>
                </a:solidFill>
                <a:latin typeface="Helvetica Neue"/>
              </a:rPr>
              <a:t>The near-term plan is specific because the blueprint already did the hard thinking. This is a build-and-prove plan, not a research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159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22D3EE"/>
                </a:solidFill>
                <a:latin typeface="Helvetica Neue"/>
              </a:rPr>
              <a:t>90-DAY BUILD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33928"/>
            <a:ext cx="10637215" cy="12700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iamond 7"/>
          <p:cNvSpPr/>
          <p:nvPr/>
        </p:nvSpPr>
        <p:spPr>
          <a:xfrm>
            <a:off x="1511274" y="3151632"/>
            <a:ext cx="182880" cy="182880"/>
          </a:xfrm>
          <a:prstGeom prst="diamond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77240" y="3453384"/>
            <a:ext cx="1650949" cy="1865376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3453384"/>
            <a:ext cx="1650949" cy="32004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41832" y="3617976"/>
            <a:ext cx="132176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10">
                <a:solidFill>
                  <a:srgbClr val="4F6BFF"/>
                </a:solidFill>
                <a:latin typeface="Helvetica Neue"/>
              </a:rPr>
              <a:t>DAYS 1-15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837432"/>
            <a:ext cx="132176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093464"/>
            <a:ext cx="1321765" cy="1078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Next.js, FastAPI, Postgres, auth, tenant model, RBAC, document upload, object storage, initial knowledge pipeline.</a:t>
            </a:r>
          </a:p>
        </p:txBody>
      </p:sp>
      <p:sp>
        <p:nvSpPr>
          <p:cNvPr id="14" name="Diamond 13"/>
          <p:cNvSpPr/>
          <p:nvPr/>
        </p:nvSpPr>
        <p:spPr>
          <a:xfrm>
            <a:off x="3308527" y="3151632"/>
            <a:ext cx="182880" cy="182880"/>
          </a:xfrm>
          <a:prstGeom prst="diamond">
            <a:avLst/>
          </a:prstGeom>
          <a:solidFill>
            <a:srgbClr val="467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574493" y="3453384"/>
            <a:ext cx="1650949" cy="1865376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574493" y="3453384"/>
            <a:ext cx="1650949" cy="32004"/>
          </a:xfrm>
          <a:prstGeom prst="rect">
            <a:avLst/>
          </a:prstGeom>
          <a:solidFill>
            <a:srgbClr val="467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739085" y="3617976"/>
            <a:ext cx="132176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10">
                <a:solidFill>
                  <a:srgbClr val="467FFB"/>
                </a:solidFill>
                <a:latin typeface="Helvetica Neue"/>
              </a:rPr>
              <a:t>DAYS 16-30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9085" y="3837432"/>
            <a:ext cx="132176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JD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9085" y="4093464"/>
            <a:ext cx="1321765" cy="1078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Requisition intake, grounded retrieval, JD generation, policy checks, approval and comment loop.</a:t>
            </a:r>
          </a:p>
        </p:txBody>
      </p:sp>
      <p:sp>
        <p:nvSpPr>
          <p:cNvPr id="20" name="Diamond 19"/>
          <p:cNvSpPr/>
          <p:nvPr/>
        </p:nvSpPr>
        <p:spPr>
          <a:xfrm>
            <a:off x="5105780" y="3151632"/>
            <a:ext cx="182880" cy="182880"/>
          </a:xfrm>
          <a:prstGeom prst="diamond">
            <a:avLst/>
          </a:prstGeom>
          <a:solidFill>
            <a:srgbClr val="3D9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4371746" y="3453384"/>
            <a:ext cx="1650949" cy="1865376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371746" y="3453384"/>
            <a:ext cx="1650949" cy="32004"/>
          </a:xfrm>
          <a:prstGeom prst="rect">
            <a:avLst/>
          </a:prstGeom>
          <a:solidFill>
            <a:srgbClr val="3D9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36338" y="3617976"/>
            <a:ext cx="132176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10">
                <a:solidFill>
                  <a:srgbClr val="3D94F8"/>
                </a:solidFill>
                <a:latin typeface="Helvetica Neue"/>
              </a:rPr>
              <a:t>DAYS 31-45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6338" y="3837432"/>
            <a:ext cx="132176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6338" y="4093464"/>
            <a:ext cx="1321765" cy="1078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Durable workflow states, events, retries, notifications, approval service, audit trail.</a:t>
            </a:r>
          </a:p>
        </p:txBody>
      </p:sp>
      <p:sp>
        <p:nvSpPr>
          <p:cNvPr id="26" name="Diamond 25"/>
          <p:cNvSpPr/>
          <p:nvPr/>
        </p:nvSpPr>
        <p:spPr>
          <a:xfrm>
            <a:off x="6903033" y="3151632"/>
            <a:ext cx="182880" cy="182880"/>
          </a:xfrm>
          <a:prstGeom prst="diamond">
            <a:avLst/>
          </a:prstGeom>
          <a:solidFill>
            <a:srgbClr val="34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168999" y="3453384"/>
            <a:ext cx="1650949" cy="1865376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168999" y="3453384"/>
            <a:ext cx="1650949" cy="32004"/>
          </a:xfrm>
          <a:prstGeom prst="rect">
            <a:avLst/>
          </a:prstGeom>
          <a:solidFill>
            <a:srgbClr val="34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33591" y="3617976"/>
            <a:ext cx="132176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10">
                <a:solidFill>
                  <a:srgbClr val="34A9F4"/>
                </a:solidFill>
                <a:latin typeface="Helvetica Neue"/>
              </a:rPr>
              <a:t>DAYS 46-60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3591" y="3837432"/>
            <a:ext cx="132176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Candidate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3591" y="4093464"/>
            <a:ext cx="1321765" cy="1078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Resume parsing, profile normalization, evidence extraction, requirement matching, shortlist UI.</a:t>
            </a:r>
          </a:p>
        </p:txBody>
      </p:sp>
      <p:sp>
        <p:nvSpPr>
          <p:cNvPr id="32" name="Diamond 31"/>
          <p:cNvSpPr/>
          <p:nvPr/>
        </p:nvSpPr>
        <p:spPr>
          <a:xfrm>
            <a:off x="8700286" y="3151632"/>
            <a:ext cx="182880" cy="182880"/>
          </a:xfrm>
          <a:prstGeom prst="diamond">
            <a:avLst/>
          </a:prstGeom>
          <a:solidFill>
            <a:srgbClr val="2BB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7966252" y="3453384"/>
            <a:ext cx="1650949" cy="1865376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966252" y="3453384"/>
            <a:ext cx="1650949" cy="32004"/>
          </a:xfrm>
          <a:prstGeom prst="rect">
            <a:avLst/>
          </a:prstGeom>
          <a:solidFill>
            <a:srgbClr val="2BB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130844" y="3617976"/>
            <a:ext cx="132176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10">
                <a:solidFill>
                  <a:srgbClr val="2BBEF1"/>
                </a:solidFill>
                <a:latin typeface="Helvetica Neue"/>
              </a:rPr>
              <a:t>DAYS 61-75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0844" y="3837432"/>
            <a:ext cx="132176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Integrations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0844" y="4093464"/>
            <a:ext cx="1321765" cy="1078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One ATS or job-posting path, calendar, email and one enterprise messaging channel.</a:t>
            </a:r>
          </a:p>
        </p:txBody>
      </p:sp>
      <p:sp>
        <p:nvSpPr>
          <p:cNvPr id="38" name="Diamond 37"/>
          <p:cNvSpPr/>
          <p:nvPr/>
        </p:nvSpPr>
        <p:spPr>
          <a:xfrm>
            <a:off x="10497539" y="3151632"/>
            <a:ext cx="182880" cy="182880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9763505" y="3453384"/>
            <a:ext cx="1650949" cy="1865376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9763505" y="3453384"/>
            <a:ext cx="1650949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928097" y="3617976"/>
            <a:ext cx="132176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i="0" spc="110">
                <a:solidFill>
                  <a:srgbClr val="22D3EE"/>
                </a:solidFill>
                <a:latin typeface="Helvetica Neue"/>
              </a:rPr>
              <a:t>DAYS 76-90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8097" y="3837432"/>
            <a:ext cx="132176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Pilot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8097" y="4093464"/>
            <a:ext cx="1321765" cy="1078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Security hardening, analytics, evaluation suite, onboarding, 1-3 enterprise pilots.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5501640"/>
            <a:ext cx="2522143" cy="749808"/>
          </a:xfrm>
          <a:prstGeom prst="roundRect">
            <a:avLst>
              <a:gd name="adj" fmla="val 6000"/>
            </a:avLst>
          </a:prstGeom>
          <a:solidFill>
            <a:srgbClr val="151E33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41832" y="558393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4F6BFF"/>
                </a:solidFill>
                <a:latin typeface="Helvetica Neue"/>
              </a:rPr>
              <a:t>V1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08760" y="560222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E7C9E"/>
                </a:solidFill>
                <a:latin typeface="Helvetica Neue"/>
              </a:rPr>
              <a:t>0-3 mo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" y="5821680"/>
            <a:ext cx="219295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Requisition to policy-aware shortlist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82263" y="5501640"/>
            <a:ext cx="2522143" cy="749808"/>
          </a:xfrm>
          <a:prstGeom prst="roundRect">
            <a:avLst>
              <a:gd name="adj" fmla="val 6000"/>
            </a:avLst>
          </a:prstGeom>
          <a:solidFill>
            <a:srgbClr val="151E33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646855" y="558393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Helvetica Neue"/>
              </a:rPr>
              <a:t>V2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13783" y="560222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E7C9E"/>
                </a:solidFill>
                <a:latin typeface="Helvetica Neue"/>
              </a:rPr>
              <a:t>3-6 mo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46855" y="5821680"/>
            <a:ext cx="219295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Scheduling, calendar, candidate comms, interviewer prep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87286" y="5501640"/>
            <a:ext cx="2522143" cy="749808"/>
          </a:xfrm>
          <a:prstGeom prst="roundRect">
            <a:avLst>
              <a:gd name="adj" fmla="val 6000"/>
            </a:avLst>
          </a:prstGeom>
          <a:solidFill>
            <a:srgbClr val="151E33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351878" y="558393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Helvetica Neue"/>
              </a:rPr>
              <a:t>V3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18806" y="560222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E7C9E"/>
                </a:solidFill>
                <a:latin typeface="Helvetica Neue"/>
              </a:rPr>
              <a:t>6-12 mo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1878" y="5821680"/>
            <a:ext cx="219295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Interview intelligence, multi-round orchestration, offers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92309" y="5501640"/>
            <a:ext cx="2522143" cy="749808"/>
          </a:xfrm>
          <a:prstGeom prst="roundRect">
            <a:avLst>
              <a:gd name="adj" fmla="val 6000"/>
            </a:avLst>
          </a:prstGeom>
          <a:solidFill>
            <a:srgbClr val="151E33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9056901" y="558393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Helvetica Neue"/>
              </a:rPr>
              <a:t>V4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23829" y="560222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E7C9E"/>
                </a:solidFill>
                <a:latin typeface="Helvetica Neue"/>
              </a:rPr>
              <a:t>12+ mo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6901" y="5821680"/>
            <a:ext cx="219295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Voice, WhatsApp, candidate agent, deep HRMS, advanced analytics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74520" y="6382512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Blueprint sec.18, Validation PDF sec.18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777240" y="598932"/>
            <a:ext cx="105156" cy="105156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 spc="140">
                <a:solidFill>
                  <a:srgbClr val="22D3EE"/>
                </a:solidFill>
                <a:latin typeface="Helvetica Neue"/>
              </a:rP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9148004" cy="529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A 4-6 person team can ship this in 90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3972"/>
            <a:ext cx="8509772" cy="319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A9B4D0"/>
                </a:solidFill>
                <a:latin typeface="Helvetica Neue"/>
              </a:rPr>
              <a:t>Deliberately small and senior. The blueprint defines the roles; this raise fills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92452"/>
            <a:ext cx="3399434" cy="1481328"/>
          </a:xfrm>
          <a:prstGeom prst="roundRect">
            <a:avLst>
              <a:gd name="adj" fmla="val 5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77240" y="2092452"/>
            <a:ext cx="32004" cy="14813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996696" y="2257044"/>
            <a:ext cx="692509" cy="237744"/>
          </a:xfrm>
          <a:prstGeom prst="roundRect">
            <a:avLst>
              <a:gd name="adj" fmla="val 28000"/>
            </a:avLst>
          </a:prstGeom>
          <a:solidFill>
            <a:srgbClr val="10322E"/>
          </a:solidFill>
          <a:ln w="12700">
            <a:solidFill>
              <a:srgbClr val="2A7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96696" y="2257044"/>
            <a:ext cx="69250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00" b="1" i="0">
                <a:solidFill>
                  <a:srgbClr val="34D399"/>
                </a:solidFill>
                <a:latin typeface="Helvetica Neue"/>
              </a:rPr>
              <a:t>IN SEAT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2586228"/>
            <a:ext cx="296052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Founder /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842260"/>
            <a:ext cx="296052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34D399"/>
                </a:solidFill>
                <a:latin typeface="Helvetica Neue"/>
              </a:rPr>
              <a:t>[Founder name TBD]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3080004"/>
            <a:ext cx="296052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Customer discovery, workflow design, enterprise sales, roadmap.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6130" y="2092452"/>
            <a:ext cx="3399434" cy="1481328"/>
          </a:xfrm>
          <a:prstGeom prst="roundRect">
            <a:avLst>
              <a:gd name="adj" fmla="val 5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96130" y="2092452"/>
            <a:ext cx="32004" cy="14813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4615586" y="2257044"/>
            <a:ext cx="651383" cy="237744"/>
          </a:xfrm>
          <a:prstGeom prst="roundRect">
            <a:avLst>
              <a:gd name="adj" fmla="val 28000"/>
            </a:avLst>
          </a:prstGeom>
          <a:solidFill>
            <a:srgbClr val="362712"/>
          </a:solidFill>
          <a:ln w="12700">
            <a:solidFill>
              <a:srgbClr val="805F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15586" y="2257044"/>
            <a:ext cx="651383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00" b="1" i="0">
                <a:solidFill>
                  <a:srgbClr val="F59E0B"/>
                </a:solidFill>
                <a:latin typeface="Helvetica Neue"/>
              </a:rPr>
              <a:t>HIRING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5586" y="2586228"/>
            <a:ext cx="296052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Full-stack Engineer #1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5586" y="2842260"/>
            <a:ext cx="296052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F59E0B"/>
                </a:solidFill>
                <a:latin typeface="Helvetica Neue"/>
              </a:rPr>
              <a:t>[TBD]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5586" y="3080004"/>
            <a:ext cx="296052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Frontend, dashboard, approval center, candidate UI.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5020" y="2092452"/>
            <a:ext cx="3399434" cy="1481328"/>
          </a:xfrm>
          <a:prstGeom prst="roundRect">
            <a:avLst>
              <a:gd name="adj" fmla="val 5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15020" y="2092452"/>
            <a:ext cx="32004" cy="14813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234476" y="2257044"/>
            <a:ext cx="651383" cy="237744"/>
          </a:xfrm>
          <a:prstGeom prst="roundRect">
            <a:avLst>
              <a:gd name="adj" fmla="val 28000"/>
            </a:avLst>
          </a:prstGeom>
          <a:solidFill>
            <a:srgbClr val="362712"/>
          </a:solidFill>
          <a:ln w="12700">
            <a:solidFill>
              <a:srgbClr val="805F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34476" y="2257044"/>
            <a:ext cx="651383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00" b="1" i="0">
                <a:solidFill>
                  <a:srgbClr val="F59E0B"/>
                </a:solidFill>
                <a:latin typeface="Helvetica Neue"/>
              </a:rPr>
              <a:t>HIRING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4476" y="2586228"/>
            <a:ext cx="296052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Full-stack Engineer #2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4476" y="2842260"/>
            <a:ext cx="296052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F59E0B"/>
                </a:solidFill>
                <a:latin typeface="Helvetica Neue"/>
              </a:rPr>
              <a:t>[TBD]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4476" y="3080004"/>
            <a:ext cx="296052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Backend APIs, workflow engine, database, integrations.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738372"/>
            <a:ext cx="3399434" cy="1481328"/>
          </a:xfrm>
          <a:prstGeom prst="roundRect">
            <a:avLst>
              <a:gd name="adj" fmla="val 5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77240" y="3738372"/>
            <a:ext cx="32004" cy="14813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996696" y="3902964"/>
            <a:ext cx="651383" cy="237744"/>
          </a:xfrm>
          <a:prstGeom prst="roundRect">
            <a:avLst>
              <a:gd name="adj" fmla="val 28000"/>
            </a:avLst>
          </a:prstGeom>
          <a:solidFill>
            <a:srgbClr val="362712"/>
          </a:solidFill>
          <a:ln w="12700">
            <a:solidFill>
              <a:srgbClr val="805F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96696" y="3902964"/>
            <a:ext cx="651383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00" b="1" i="0">
                <a:solidFill>
                  <a:srgbClr val="F59E0B"/>
                </a:solidFill>
                <a:latin typeface="Helvetica Neue"/>
              </a:rPr>
              <a:t>HIRING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" y="4232148"/>
            <a:ext cx="296052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AI / ML Engineer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" y="4488180"/>
            <a:ext cx="296052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F59E0B"/>
                </a:solidFill>
                <a:latin typeface="Helvetica Neue"/>
              </a:rPr>
              <a:t>[TBD]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" y="4725924"/>
            <a:ext cx="296052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Retrieval, agents, evaluation, extraction, guardrails.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96130" y="3738372"/>
            <a:ext cx="3399434" cy="1481328"/>
          </a:xfrm>
          <a:prstGeom prst="roundRect">
            <a:avLst>
              <a:gd name="adj" fmla="val 5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396130" y="3738372"/>
            <a:ext cx="32004" cy="14813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4615586" y="3902964"/>
            <a:ext cx="651383" cy="237744"/>
          </a:xfrm>
          <a:prstGeom prst="roundRect">
            <a:avLst>
              <a:gd name="adj" fmla="val 28000"/>
            </a:avLst>
          </a:prstGeom>
          <a:solidFill>
            <a:srgbClr val="362712"/>
          </a:solidFill>
          <a:ln w="12700">
            <a:solidFill>
              <a:srgbClr val="805F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615586" y="3902964"/>
            <a:ext cx="651383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00" b="1" i="0">
                <a:solidFill>
                  <a:srgbClr val="F59E0B"/>
                </a:solidFill>
                <a:latin typeface="Helvetica Neue"/>
              </a:rPr>
              <a:t>HIRING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5586" y="4232148"/>
            <a:ext cx="296052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Platform / Security Engineer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5586" y="4488180"/>
            <a:ext cx="296052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F59E0B"/>
                </a:solidFill>
                <a:latin typeface="Helvetica Neue"/>
              </a:rPr>
              <a:t>[TBD]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5586" y="4725924"/>
            <a:ext cx="296052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Cloud, identity, security, observability, integrations.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15020" y="3738372"/>
            <a:ext cx="3399434" cy="1481328"/>
          </a:xfrm>
          <a:prstGeom prst="roundRect">
            <a:avLst>
              <a:gd name="adj" fmla="val 5000"/>
            </a:avLst>
          </a:prstGeom>
          <a:solidFill>
            <a:srgbClr val="0E1424"/>
          </a:solidFill>
          <a:ln w="12700">
            <a:solidFill>
              <a:srgbClr val="222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8015020" y="3738372"/>
            <a:ext cx="32004" cy="1481328"/>
          </a:xfrm>
          <a:prstGeom prst="rect">
            <a:avLst/>
          </a:prstGeom>
          <a:solidFill>
            <a:srgbClr val="6E7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8234476" y="3902964"/>
            <a:ext cx="870458" cy="237744"/>
          </a:xfrm>
          <a:prstGeom prst="roundRect">
            <a:avLst>
              <a:gd name="adj" fmla="val 28000"/>
            </a:avLst>
          </a:prstGeom>
          <a:solidFill>
            <a:srgbClr val="1B202F"/>
          </a:solidFill>
          <a:ln w="12700">
            <a:solidFill>
              <a:srgbClr val="445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234476" y="3902964"/>
            <a:ext cx="87045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00" b="1" i="0">
                <a:solidFill>
                  <a:srgbClr val="6E7C9E"/>
                </a:solidFill>
                <a:latin typeface="Helvetica Neue"/>
              </a:rPr>
              <a:t>CONTRACT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34476" y="4232148"/>
            <a:ext cx="296052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Designer (contract)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34476" y="4488180"/>
            <a:ext cx="296052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6E7C9E"/>
                </a:solidFill>
                <a:latin typeface="Helvetica Neue"/>
              </a:rPr>
              <a:t>[TBD]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34476" y="4725924"/>
            <a:ext cx="296052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50" b="0" i="0">
                <a:solidFill>
                  <a:srgbClr val="A9B4D0"/>
                </a:solidFill>
                <a:latin typeface="Helvetica Neue"/>
              </a:rPr>
              <a:t>Enterprise UX and design system.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" y="5475732"/>
            <a:ext cx="10637215" cy="728980"/>
          </a:xfrm>
          <a:prstGeom prst="roundRect">
            <a:avLst>
              <a:gd name="adj" fmla="val 10000"/>
            </a:avLst>
          </a:prstGeom>
          <a:solidFill>
            <a:srgbClr val="252121"/>
          </a:solidFill>
          <a:ln w="12700">
            <a:solidFill>
              <a:srgbClr val="6B5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77240" y="5475732"/>
            <a:ext cx="41148" cy="7289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014984" y="5658612"/>
            <a:ext cx="10216591" cy="3632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F59E0B"/>
                </a:solidFill>
                <a:latin typeface="Helvetica Neue"/>
              </a:rPr>
              <a:t>Before you send this  </a:t>
            </a:r>
            <a:r>
              <a:rPr sz="1100">
                <a:solidFill>
                  <a:srgbClr val="A9B4D0"/>
                </a:solidFill>
                <a:latin typeface="Helvetica Neue"/>
              </a:rPr>
              <a:t>Replace the bracketed placeholders with real names and one-line credibility markers before this deck goes to an investor. The team slide is usually the second thing they read.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74520" y="6382512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Blueprint sec.19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777240" y="598932"/>
            <a:ext cx="105156" cy="105156"/>
          </a:xfrm>
          <a:prstGeom prst="diamond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 spc="140">
                <a:solidFill>
                  <a:srgbClr val="22D3EE"/>
                </a:solidFill>
                <a:latin typeface="Helvetica Neue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9148004" cy="529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$1.5M pre-seed for 18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3972"/>
            <a:ext cx="8509772" cy="583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A9B4D0"/>
                </a:solidFill>
                <a:latin typeface="Helvetica Neue"/>
              </a:rPr>
              <a:t>Enough to assemble the team, ship the MVP wedge and convert three enterprise pilots into evidence that this 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56612"/>
            <a:ext cx="2494711" cy="1042415"/>
          </a:xfrm>
          <a:prstGeom prst="roundRect">
            <a:avLst>
              <a:gd name="adj" fmla="val 5000"/>
            </a:avLst>
          </a:prstGeom>
          <a:solidFill>
            <a:srgbClr val="102A3C"/>
          </a:solidFill>
          <a:ln w="12700">
            <a:solidFill>
              <a:srgbClr val="2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77240" y="2356612"/>
            <a:ext cx="2494711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78408" y="2594356"/>
            <a:ext cx="2092375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 i="0" spc="-80">
                <a:solidFill>
                  <a:srgbClr val="22D3EE"/>
                </a:solidFill>
                <a:latin typeface="Helvetica Neue"/>
              </a:rPr>
              <a:t>$1.5M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069844"/>
            <a:ext cx="20923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A9B4D0"/>
                </a:solidFill>
                <a:latin typeface="Helvetica Neue"/>
              </a:rPr>
              <a:t>Pre-seed round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407" y="2356612"/>
            <a:ext cx="2494711" cy="1042415"/>
          </a:xfrm>
          <a:prstGeom prst="roundRect">
            <a:avLst>
              <a:gd name="adj" fmla="val 5000"/>
            </a:avLst>
          </a:prstGeom>
          <a:solidFill>
            <a:srgbClr val="151E3E"/>
          </a:solidFill>
          <a:ln w="12700">
            <a:solidFill>
              <a:srgbClr val="3343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491407" y="2356612"/>
            <a:ext cx="2494711" cy="36576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92575" y="2594356"/>
            <a:ext cx="2092375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 i="0" spc="-80">
                <a:solidFill>
                  <a:srgbClr val="4F6BFF"/>
                </a:solidFill>
                <a:latin typeface="Helvetica Neue"/>
              </a:rPr>
              <a:t>18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2575" y="3069844"/>
            <a:ext cx="20923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A9B4D0"/>
                </a:solidFill>
                <a:latin typeface="Helvetica Neue"/>
              </a:rPr>
              <a:t>Runway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5574" y="2356612"/>
            <a:ext cx="2494711" cy="1042415"/>
          </a:xfrm>
          <a:prstGeom prst="roundRect">
            <a:avLst>
              <a:gd name="adj" fmla="val 5000"/>
            </a:avLst>
          </a:prstGeom>
          <a:solidFill>
            <a:srgbClr val="122A32"/>
          </a:solidFill>
          <a:ln w="12700">
            <a:solidFill>
              <a:srgbClr val="28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05574" y="2356612"/>
            <a:ext cx="2494711" cy="3657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06742" y="2594356"/>
            <a:ext cx="2092375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 i="0" spc="-80">
                <a:solidFill>
                  <a:srgbClr val="34D399"/>
                </a:solidFill>
                <a:latin typeface="Helvetica Neue"/>
              </a:rPr>
              <a:t>4-6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6742" y="3069844"/>
            <a:ext cx="20923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A9B4D0"/>
                </a:solidFill>
                <a:latin typeface="Helvetica Neue"/>
              </a:rPr>
              <a:t>Person team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9741" y="2356612"/>
            <a:ext cx="2494711" cy="1042415"/>
          </a:xfrm>
          <a:prstGeom prst="roundRect">
            <a:avLst>
              <a:gd name="adj" fmla="val 5000"/>
            </a:avLst>
          </a:prstGeom>
          <a:solidFill>
            <a:srgbClr val="292421"/>
          </a:solidFill>
          <a:ln w="12700">
            <a:solidFill>
              <a:srgbClr val="725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919741" y="2356612"/>
            <a:ext cx="2494711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20909" y="2594356"/>
            <a:ext cx="2092375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 i="0" spc="-80">
                <a:solidFill>
                  <a:srgbClr val="F59E0B"/>
                </a:solidFill>
                <a:latin typeface="Helvetica Neue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0909" y="3069844"/>
            <a:ext cx="20923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A9B4D0"/>
                </a:solidFill>
                <a:latin typeface="Helvetica Neue"/>
              </a:rPr>
              <a:t>Paid enterprise pilots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673347"/>
            <a:ext cx="5074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22D3EE"/>
                </a:solidFill>
                <a:latin typeface="Helvetica Neue"/>
              </a:rPr>
              <a:t>USE OF FUNDS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984243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Engineering - 2 full-stack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63240" y="4034535"/>
            <a:ext cx="2423160" cy="128016"/>
          </a:xfrm>
          <a:prstGeom prst="roundRect">
            <a:avLst>
              <a:gd name="adj" fmla="val 50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3063240" y="4034535"/>
            <a:ext cx="2423160" cy="128016"/>
          </a:xfrm>
          <a:prstGeom prst="roundRect">
            <a:avLst>
              <a:gd name="adj" fmla="val 50000"/>
            </a:avLst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68112" y="3984243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34%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276851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AI / ML engineering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327143"/>
            <a:ext cx="2423160" cy="128016"/>
          </a:xfrm>
          <a:prstGeom prst="roundRect">
            <a:avLst>
              <a:gd name="adj" fmla="val 50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3063240" y="4327143"/>
            <a:ext cx="1282849" cy="128016"/>
          </a:xfrm>
          <a:prstGeom prst="roundRect">
            <a:avLst>
              <a:gd name="adj" fmla="val 50000"/>
            </a:avLst>
          </a:prstGeom>
          <a:solidFill>
            <a:srgbClr val="467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468112" y="4276851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18%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569459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Platform and security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63240" y="4619751"/>
            <a:ext cx="2423160" cy="128016"/>
          </a:xfrm>
          <a:prstGeom prst="roundRect">
            <a:avLst>
              <a:gd name="adj" fmla="val 50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3063240" y="4619751"/>
            <a:ext cx="1140310" cy="128016"/>
          </a:xfrm>
          <a:prstGeom prst="roundRect">
            <a:avLst>
              <a:gd name="adj" fmla="val 50000"/>
            </a:avLst>
          </a:prstGeom>
          <a:solidFill>
            <a:srgbClr val="3D9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68112" y="4569459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16%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862067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Design, GTM and pilot delivery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63240" y="4912359"/>
            <a:ext cx="2423160" cy="128016"/>
          </a:xfrm>
          <a:prstGeom prst="roundRect">
            <a:avLst>
              <a:gd name="adj" fmla="val 50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3063240" y="4912359"/>
            <a:ext cx="997771" cy="128016"/>
          </a:xfrm>
          <a:prstGeom prst="roundRect">
            <a:avLst>
              <a:gd name="adj" fmla="val 50000"/>
            </a:avLst>
          </a:prstGeom>
          <a:solidFill>
            <a:srgbClr val="34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468112" y="4862067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14%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154675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Infrastructure and model usage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63240" y="5204967"/>
            <a:ext cx="2423160" cy="128016"/>
          </a:xfrm>
          <a:prstGeom prst="roundRect">
            <a:avLst>
              <a:gd name="adj" fmla="val 50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3063240" y="5204967"/>
            <a:ext cx="712694" cy="128016"/>
          </a:xfrm>
          <a:prstGeom prst="roundRect">
            <a:avLst>
              <a:gd name="adj" fmla="val 50000"/>
            </a:avLst>
          </a:prstGeom>
          <a:solidFill>
            <a:srgbClr val="2BB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468112" y="5154675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10%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447283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A9B4D0"/>
                </a:solidFill>
                <a:latin typeface="Helvetica Neue"/>
              </a:rPr>
              <a:t>Compliance readiness and legal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63240" y="5497575"/>
            <a:ext cx="2423160" cy="128016"/>
          </a:xfrm>
          <a:prstGeom prst="roundRect">
            <a:avLst>
              <a:gd name="adj" fmla="val 50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3063240" y="5497575"/>
            <a:ext cx="570155" cy="12801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468112" y="5447283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91072" y="3673347"/>
            <a:ext cx="5123383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20">
                <a:solidFill>
                  <a:srgbClr val="34D399"/>
                </a:solidFill>
                <a:latin typeface="Helvetica Neue"/>
              </a:rPr>
              <a:t>WHAT WE WILL HAVE PROVEN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91072" y="3984243"/>
            <a:ext cx="5123383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173736" indent="-173736">
              <a:lnSpc>
                <a:spcPct val="120000"/>
              </a:lnSpc>
              <a:spcAft>
                <a:spcPts val="500"/>
              </a:spcAft>
              <a:buClr>
                <a:srgbClr val="34D399"/>
              </a:buClr>
              <a:buSzPct val="90000"/>
              <a:buFont typeface="Arial"/>
              <a:buChar char="•"/>
            </a:pPr>
            <a:r>
              <a:rPr sz="1050">
                <a:solidFill>
                  <a:srgbClr val="A9B4D0"/>
                </a:solidFill>
                <a:latin typeface="Helvetica Neue"/>
              </a:rPr>
              <a:t>MVP live end to end: requisition to policy-aware shortlist</a:t>
            </a:r>
          </a:p>
          <a:p>
            <a:pPr marL="173736" indent="-173736">
              <a:lnSpc>
                <a:spcPct val="120000"/>
              </a:lnSpc>
              <a:spcAft>
                <a:spcPts val="500"/>
              </a:spcAft>
              <a:buClr>
                <a:srgbClr val="34D399"/>
              </a:buClr>
              <a:buSzPct val="90000"/>
              <a:buFont typeface="Arial"/>
              <a:buChar char="•"/>
            </a:pPr>
            <a:r>
              <a:rPr sz="1050">
                <a:solidFill>
                  <a:srgbClr val="A9B4D0"/>
                </a:solidFill>
                <a:latin typeface="Helvetica Neue"/>
              </a:rPr>
              <a:t>3 paid enterprise pilots delivered and measured</a:t>
            </a:r>
          </a:p>
          <a:p>
            <a:pPr marL="173736" indent="-173736">
              <a:lnSpc>
                <a:spcPct val="120000"/>
              </a:lnSpc>
              <a:spcAft>
                <a:spcPts val="500"/>
              </a:spcAft>
              <a:buClr>
                <a:srgbClr val="34D399"/>
              </a:buClr>
              <a:buSzPct val="90000"/>
              <a:buFont typeface="Arial"/>
              <a:buChar char="•"/>
            </a:pPr>
            <a:r>
              <a:rPr sz="1050">
                <a:solidFill>
                  <a:srgbClr val="A9B4D0"/>
                </a:solidFill>
                <a:latin typeface="Helvetica Neue"/>
              </a:rPr>
              <a:t>Documented human hours saved per successful hire</a:t>
            </a:r>
          </a:p>
          <a:p>
            <a:pPr marL="173736" indent="-173736">
              <a:lnSpc>
                <a:spcPct val="120000"/>
              </a:lnSpc>
              <a:spcAft>
                <a:spcPts val="500"/>
              </a:spcAft>
              <a:buClr>
                <a:srgbClr val="34D399"/>
              </a:buClr>
              <a:buSzPct val="90000"/>
              <a:buFont typeface="Arial"/>
              <a:buChar char="•"/>
            </a:pPr>
            <a:r>
              <a:rPr sz="1050">
                <a:solidFill>
                  <a:srgbClr val="A9B4D0"/>
                </a:solidFill>
                <a:latin typeface="Helvetica Neue"/>
              </a:rPr>
              <a:t>One production ATS connector plus calendar and messaging</a:t>
            </a:r>
          </a:p>
          <a:p>
            <a:pPr marL="173736" indent="-173736">
              <a:lnSpc>
                <a:spcPct val="120000"/>
              </a:lnSpc>
              <a:spcAft>
                <a:spcPts val="500"/>
              </a:spcAft>
              <a:buClr>
                <a:srgbClr val="34D399"/>
              </a:buClr>
              <a:buSzPct val="90000"/>
              <a:buFont typeface="Arial"/>
              <a:buChar char="•"/>
            </a:pPr>
            <a:r>
              <a:rPr sz="1050">
                <a:solidFill>
                  <a:srgbClr val="A9B4D0"/>
                </a:solidFill>
                <a:latin typeface="Helvetica Neue"/>
              </a:rPr>
              <a:t>SOC 2 readiness work underway</a:t>
            </a:r>
          </a:p>
          <a:p>
            <a:pPr marL="173736" indent="-173736">
              <a:lnSpc>
                <a:spcPct val="120000"/>
              </a:lnSpc>
              <a:spcAft>
                <a:spcPts val="500"/>
              </a:spcAft>
              <a:buClr>
                <a:srgbClr val="34D399"/>
              </a:buClr>
              <a:buSzPct val="90000"/>
              <a:buFont typeface="Arial"/>
              <a:buChar char="•"/>
            </a:pPr>
            <a:r>
              <a:rPr sz="1050">
                <a:solidFill>
                  <a:srgbClr val="A9B4D0"/>
                </a:solidFill>
                <a:latin typeface="Helvetica Neue"/>
              </a:rPr>
              <a:t>Pricing validated against real enterprise willingness to pay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" y="5867907"/>
            <a:ext cx="10637215" cy="514350"/>
          </a:xfrm>
          <a:prstGeom prst="roundRect">
            <a:avLst>
              <a:gd name="adj" fmla="val 10000"/>
            </a:avLst>
          </a:prstGeom>
          <a:solidFill>
            <a:srgbClr val="171E30"/>
          </a:solidFill>
          <a:ln w="12700">
            <a:solidFill>
              <a:srgbClr val="3C48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777240" y="5867907"/>
            <a:ext cx="41148" cy="514350"/>
          </a:xfrm>
          <a:prstGeom prst="rect">
            <a:avLst/>
          </a:prstGeom>
          <a:solidFill>
            <a:srgbClr val="6E7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014984" y="6050787"/>
            <a:ext cx="10216591" cy="1485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900" b="1">
                <a:solidFill>
                  <a:srgbClr val="6E7C9E"/>
                </a:solidFill>
                <a:latin typeface="Helvetica Neue"/>
              </a:rPr>
              <a:t>Assumption  </a:t>
            </a:r>
            <a:r>
              <a:rPr sz="900">
                <a:solidFill>
                  <a:srgbClr val="A9B4D0"/>
                </a:solidFill>
                <a:latin typeface="Helvetica Neue"/>
              </a:rPr>
              <a:t>Allocation is our current plan, not a committed budget. It will move with hiring timing and pilot scope.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22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77240" y="6382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 spc="100">
                <a:solidFill>
                  <a:srgbClr val="6E7C9E"/>
                </a:solidFill>
                <a:latin typeface="Helvetica Neue"/>
              </a:rPr>
              <a:t>HireOS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74520" y="6382512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Not present in source PDFs - our funding plan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E7C9E"/>
                </a:solidFill>
                <a:latin typeface="Helvetica Neue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-cover.png"/>
          <p:cNvPicPr>
            <a:picLocks noChangeAspect="1"/>
          </p:cNvPicPr>
          <p:nvPr/>
        </p:nvPicPr>
        <p:blipFill>
          <a:blip r:embed="rId2">
            <a:alphaModFix amt="55000"/>
          </a:blip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753356" cy="6858000"/>
          </a:xfrm>
          <a:prstGeom prst="rect">
            <a:avLst/>
          </a:prstGeom>
          <a:gradFill rotWithShape="1">
            <a:gsLst>
              <a:gs pos="0">
                <a:srgbClr val="070A14">
                  <a:alpha val="96000"/>
                </a:srgbClr>
              </a:gs>
              <a:gs pos="100000">
                <a:srgbClr val="070A14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6928"/>
            <a:ext cx="475488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99032" y="643006"/>
            <a:ext cx="2926080" cy="34235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392" b="1" i="0" spc="-40">
                <a:solidFill>
                  <a:srgbClr val="FFFFFF"/>
                </a:solidFill>
                <a:latin typeface="Helvetica Neue"/>
              </a:rPr>
              <a:t>HireOS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83664"/>
            <a:ext cx="6949440" cy="1874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4000" b="1" i="0" spc="-100">
                <a:solidFill>
                  <a:srgbClr val="FFFFFF"/>
                </a:solidFill>
                <a:latin typeface="Helvetica Neue"/>
              </a:rPr>
              <a:t>AI executes.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4000" b="1" i="0" spc="-100">
                <a:solidFill>
                  <a:srgbClr val="FFFFFF"/>
                </a:solidFill>
                <a:latin typeface="Helvetica Neue"/>
              </a:rPr>
              <a:t>Company policy governs.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4000" b="1" i="0" spc="-100">
                <a:solidFill>
                  <a:srgbClr val="FFFFFF"/>
                </a:solidFill>
                <a:latin typeface="Helvetica Neue"/>
              </a:rPr>
              <a:t>Humans decide.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33088"/>
            <a:ext cx="41148" cy="10607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33272" y="4133088"/>
            <a:ext cx="6766560" cy="1060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300" b="0" i="0">
                <a:solidFill>
                  <a:srgbClr val="A9B4D0"/>
                </a:solidFill>
                <a:latin typeface="Helvetica Neue"/>
              </a:rPr>
              <a:t>The strongest version of this company is not an AI that hires people. It is an enterprise hiring operating layer that executes recruiting work across the systems a company already runs, enforces that company's policy, and preserves human control over consequential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7161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Helvetica Neue"/>
              </a:rPr>
              <a:t>$1.5M pre-seed - [Entity name TBD] - [email / phone TBD]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HireOS - Pre-Seed Investor Deck</dc:title>
  <dc:subject>Enterprise Agentic Hiring Operating System</dc:subject>
  <dc:creator>[Founder name TBD]</dc:creator>
  <cp:keywords/>
  <dc:description>Generated by deck/build.py. Edit copy in deck/content.py and rebuild.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